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0" r:id="rId5"/>
    <p:sldId id="258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8920F-C10B-49D9-B048-A25AFCCE8F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958F40F-1B6D-40CC-B9C6-51482A8407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C542C8-66A4-4C65-AC9B-2CDB52750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1D7B-B984-48A4-8151-F0960A063769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DE4DB2-B565-45BF-8648-E0F4AA0A1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F0045D-2DCA-4AF6-885A-EF66D4131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6F04-AB52-4E9C-A326-636E69209A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767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1D4605-016D-49F9-870E-93A43CA07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89AF66-1977-49A4-9196-6E36859C2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0E71DD-9A47-4657-898A-010A91420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1D7B-B984-48A4-8151-F0960A063769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1AAEC1-A9DC-454D-8711-B02E89CB0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D0CE2F-3130-4D36-9864-C0DA8C8D5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6F04-AB52-4E9C-A326-636E69209A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288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8EA992-3507-4528-BFA3-F4E13FADD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E58847-573B-4F99-AC78-9F2D48DA8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B07186-D078-4E0D-A917-7B34AE855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1D7B-B984-48A4-8151-F0960A063769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102F9E-BB9B-4CCC-906D-7A78EBA71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BE2DFA-1B7D-4963-969B-AF7718C1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6F04-AB52-4E9C-A326-636E69209A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265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988094-B2BA-42D4-A1A5-259607FAD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71FC9E-5616-443A-B396-EE6E16ACEA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EB8A0C-3D6E-427F-B2C1-E61BABB01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9229CC-01EB-4724-924F-F361FC30D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1D7B-B984-48A4-8151-F0960A063769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783E1D-FB2F-4829-9B87-07C08CF93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154503-DA19-42AA-8951-0BDE86FC2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6F04-AB52-4E9C-A326-636E69209A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57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87A703-EA61-4469-AA0A-24F0588C9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CE944B-44AB-4D49-A1BD-03E924A5B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3E8B78-BB79-4831-9787-ADE2B9293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8F5F5F6-C087-4D6C-9DF9-7739BF9C0D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B61FA49-5161-4AB7-87CF-56A39B5BF6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72C03E7-4B78-4502-B2A9-B83CA0AF4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1D7B-B984-48A4-8151-F0960A063769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2148C2-6A81-401E-85DF-3F2119DA6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7385CC0-D95B-4B03-989C-E035B76AF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6F04-AB52-4E9C-A326-636E69209A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584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331A6-1AF2-4DC2-ABA7-3EF90081A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E4AAC8-38B6-4DED-AABB-A25CC07F3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1D7B-B984-48A4-8151-F0960A063769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A4A58CC-B829-4FEE-8B53-7A51F8CAE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C8D6E1-4BB2-4B04-8B66-842453D74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6F04-AB52-4E9C-A326-636E69209A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1760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2A88D5A-CCA7-44CE-A84F-89C6F4207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1D7B-B984-48A4-8151-F0960A063769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7AE44E3-6E45-471B-AFF2-8999EEFA1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C29C12-190E-4312-AC4F-D4FDD4855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6F04-AB52-4E9C-A326-636E69209A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267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5736BD-BACF-43EE-9597-FBA735216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631A2F-16CA-463C-913C-79E1E8B13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E03D125-99F9-4BD9-9FED-AEE190FEF7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C49056-36FD-46DF-A9C5-5D493C82C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1D7B-B984-48A4-8151-F0960A063769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A05307-DB70-4AED-8ED1-6E0FA9D3C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0BF845-ADFB-47F3-A048-A07D077D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6F04-AB52-4E9C-A326-636E69209A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029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3BED5F-2D4E-42BD-A369-5B1B9C253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0FB38DB-7F3E-4EF4-A791-DDA76D41F5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BDEA8C-F507-4C27-8FED-99DD24C70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56264B-F1EB-4A41-9170-947FDD482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1D7B-B984-48A4-8151-F0960A063769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BA7E31-DC9C-421E-B607-1A5F5EEE0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1C44C2-1F89-48EF-A333-EC1CFF3E7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6F04-AB52-4E9C-A326-636E69209A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320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CF751B-A427-456A-B6E5-C97F2B06F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66C30C-8E32-4D1F-9531-BD72D1EBD7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97B2AC-D093-4E19-B8FB-8009C280C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1D7B-B984-48A4-8151-F0960A063769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8C8AA5-2CBC-471F-B5A0-FF6926092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EDE4D4-13C2-4FE4-853B-6AE390F9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6F04-AB52-4E9C-A326-636E69209A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905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9A5846-4E69-47FA-9705-EB33BA569E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DE20A6-AAE4-4156-B4A1-49FB5AE741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DBF478-E8D5-42B0-8B73-CFBF7B9ED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1D7B-B984-48A4-8151-F0960A063769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2382C7-ED58-4283-A3B7-24AB4C892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9ED42C-5C87-4B3A-B5D0-F96732F05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96F04-AB52-4E9C-A326-636E69209A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400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FCC1DA6-9901-4F69-8E45-517EE6B89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ACAEC6-C0D6-4271-8A3A-DE9E6A357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3C2442-C365-4317-AC2A-AE5E964565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E1D7B-B984-48A4-8151-F0960A063769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3EF803-1DBD-4CB0-BDCF-64D52C3A63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4F4624-78FF-467F-9C4E-6CCE2F59B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C96F04-AB52-4E9C-A326-636E69209A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69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3105B1B-92D4-4A4D-A17C-13881C5DC64F}"/>
              </a:ext>
            </a:extLst>
          </p:cNvPr>
          <p:cNvSpPr txBox="1"/>
          <p:nvPr/>
        </p:nvSpPr>
        <p:spPr>
          <a:xfrm>
            <a:off x="4355841" y="298578"/>
            <a:ext cx="3480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/>
              <a:t>指导语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4A1A352-5C0B-4B7E-8520-67530171CC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7243" y="298578"/>
            <a:ext cx="879605" cy="879605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C7EA5DB-A812-46AA-A0C6-7053870286F8}"/>
              </a:ext>
            </a:extLst>
          </p:cNvPr>
          <p:cNvCxnSpPr>
            <a:cxnSpLocks/>
          </p:cNvCxnSpPr>
          <p:nvPr/>
        </p:nvCxnSpPr>
        <p:spPr>
          <a:xfrm>
            <a:off x="746450" y="738380"/>
            <a:ext cx="2455400" cy="595697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A6C27E83-29BE-49C3-9469-BE00DB2EC331}"/>
              </a:ext>
            </a:extLst>
          </p:cNvPr>
          <p:cNvSpPr/>
          <p:nvPr/>
        </p:nvSpPr>
        <p:spPr>
          <a:xfrm>
            <a:off x="1049694" y="298578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0C3D538-AAB9-4BCB-8505-B37630587EBF}"/>
              </a:ext>
            </a:extLst>
          </p:cNvPr>
          <p:cNvSpPr/>
          <p:nvPr/>
        </p:nvSpPr>
        <p:spPr>
          <a:xfrm>
            <a:off x="1426029" y="1216088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80D9710-2CA0-4AB7-AFAE-469DF410EF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977" y="1404897"/>
            <a:ext cx="409088" cy="374137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9557C0D0-1487-4CC5-B9DB-36EABB5788B3}"/>
              </a:ext>
            </a:extLst>
          </p:cNvPr>
          <p:cNvSpPr/>
          <p:nvPr/>
        </p:nvSpPr>
        <p:spPr>
          <a:xfrm>
            <a:off x="1792937" y="2167247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DC361A5-7D80-486B-ABD0-E89AB1704390}"/>
              </a:ext>
            </a:extLst>
          </p:cNvPr>
          <p:cNvSpPr/>
          <p:nvPr/>
        </p:nvSpPr>
        <p:spPr>
          <a:xfrm>
            <a:off x="2248678" y="3118406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CB91E7B-6D6C-47BD-8C1A-F23DEBD79B16}"/>
              </a:ext>
            </a:extLst>
          </p:cNvPr>
          <p:cNvSpPr/>
          <p:nvPr/>
        </p:nvSpPr>
        <p:spPr>
          <a:xfrm>
            <a:off x="2625013" y="4069565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72BC474-21A7-496A-AC2D-D82FE3DF4D85}"/>
              </a:ext>
            </a:extLst>
          </p:cNvPr>
          <p:cNvSpPr/>
          <p:nvPr/>
        </p:nvSpPr>
        <p:spPr>
          <a:xfrm>
            <a:off x="3051111" y="5020724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B34B868A-8429-439E-9F9C-2D0560B2F2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894" y="2342345"/>
            <a:ext cx="409375" cy="3744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85C891ED-20F1-4499-ADAA-8D83EF5899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482" y="3307084"/>
            <a:ext cx="409375" cy="3744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B7FF36F6-7023-45C4-8E48-C6E94CE1A4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817" y="4274062"/>
            <a:ext cx="409375" cy="37440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AE869601-DB0B-4425-84AB-6D4761F7C4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979" y="5205802"/>
            <a:ext cx="417247" cy="381600"/>
          </a:xfrm>
          <a:prstGeom prst="rect">
            <a:avLst/>
          </a:prstGeom>
        </p:spPr>
      </p:pic>
      <p:sp>
        <p:nvSpPr>
          <p:cNvPr id="37" name="箭头: 下弧形 36">
            <a:extLst>
              <a:ext uri="{FF2B5EF4-FFF2-40B4-BE49-F238E27FC236}">
                <a16:creationId xmlns:a16="http://schemas.microsoft.com/office/drawing/2014/main" id="{3970E0C8-02C1-4628-86AA-99BF24FED226}"/>
              </a:ext>
            </a:extLst>
          </p:cNvPr>
          <p:cNvSpPr/>
          <p:nvPr/>
        </p:nvSpPr>
        <p:spPr>
          <a:xfrm rot="14231358">
            <a:off x="2611799" y="1588706"/>
            <a:ext cx="1062388" cy="474676"/>
          </a:xfrm>
          <a:prstGeom prst="curvedUp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9" name="箭头: 下弧形 38">
            <a:extLst>
              <a:ext uri="{FF2B5EF4-FFF2-40B4-BE49-F238E27FC236}">
                <a16:creationId xmlns:a16="http://schemas.microsoft.com/office/drawing/2014/main" id="{36094042-A5F0-4D13-BE52-5DBFE602D6C5}"/>
              </a:ext>
            </a:extLst>
          </p:cNvPr>
          <p:cNvSpPr/>
          <p:nvPr/>
        </p:nvSpPr>
        <p:spPr>
          <a:xfrm rot="14518745">
            <a:off x="3009655" y="2578838"/>
            <a:ext cx="1062388" cy="474676"/>
          </a:xfrm>
          <a:prstGeom prst="curvedUp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0" name="箭头: 下弧形 39">
            <a:extLst>
              <a:ext uri="{FF2B5EF4-FFF2-40B4-BE49-F238E27FC236}">
                <a16:creationId xmlns:a16="http://schemas.microsoft.com/office/drawing/2014/main" id="{26C75EC7-12D1-4852-B5B8-B5F64A85E6D8}"/>
              </a:ext>
            </a:extLst>
          </p:cNvPr>
          <p:cNvSpPr/>
          <p:nvPr/>
        </p:nvSpPr>
        <p:spPr>
          <a:xfrm rot="14518745">
            <a:off x="3357066" y="3627680"/>
            <a:ext cx="1062388" cy="474676"/>
          </a:xfrm>
          <a:prstGeom prst="curvedUp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1" name="箭头: 下弧形 40">
            <a:extLst>
              <a:ext uri="{FF2B5EF4-FFF2-40B4-BE49-F238E27FC236}">
                <a16:creationId xmlns:a16="http://schemas.microsoft.com/office/drawing/2014/main" id="{7943E281-774F-4EC4-B27E-03FED052AE38}"/>
              </a:ext>
            </a:extLst>
          </p:cNvPr>
          <p:cNvSpPr/>
          <p:nvPr/>
        </p:nvSpPr>
        <p:spPr>
          <a:xfrm rot="14518745">
            <a:off x="3823718" y="4617150"/>
            <a:ext cx="1062388" cy="474676"/>
          </a:xfrm>
          <a:prstGeom prst="curvedUp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6B0DF5-BADE-4ECD-BAC2-1FD0EDFCA1E3}"/>
              </a:ext>
            </a:extLst>
          </p:cNvPr>
          <p:cNvSpPr txBox="1"/>
          <p:nvPr/>
        </p:nvSpPr>
        <p:spPr>
          <a:xfrm>
            <a:off x="3401572" y="6070202"/>
            <a:ext cx="1282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……</a:t>
            </a:r>
            <a:endParaRPr lang="zh-CN" altLang="en-US" sz="2800" b="1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A498A69-D21A-4A70-A5D7-66BBB5C203CF}"/>
              </a:ext>
            </a:extLst>
          </p:cNvPr>
          <p:cNvSpPr txBox="1"/>
          <p:nvPr/>
        </p:nvSpPr>
        <p:spPr>
          <a:xfrm>
            <a:off x="5355771" y="1404897"/>
            <a:ext cx="608977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本测试主要考察记忆能力，包括三种类型的记忆。</a:t>
            </a:r>
            <a:endParaRPr lang="en-US" altLang="zh-CN" sz="2000" b="1" dirty="0"/>
          </a:p>
          <a:p>
            <a:r>
              <a:rPr lang="zh-CN" altLang="en-US" sz="2000" b="1" dirty="0"/>
              <a:t>如左图所示，这是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第一种类型</a:t>
            </a:r>
            <a:r>
              <a:rPr lang="zh-CN" altLang="en-US" sz="2000" b="1" dirty="0"/>
              <a:t>的测试。</a:t>
            </a:r>
            <a:endParaRPr lang="en-US" altLang="zh-CN" sz="2000" b="1" dirty="0"/>
          </a:p>
          <a:p>
            <a:endParaRPr lang="en-US" altLang="zh-CN" sz="2000" dirty="0"/>
          </a:p>
          <a:p>
            <a:r>
              <a:rPr lang="zh-CN" altLang="en-US" sz="2000" dirty="0"/>
              <a:t>测试开始时，屏幕中间会出现注视点“</a:t>
            </a:r>
            <a:r>
              <a:rPr lang="en-US" altLang="zh-CN" sz="2000" dirty="0"/>
              <a:t>+</a:t>
            </a:r>
            <a:r>
              <a:rPr lang="zh-CN" altLang="en-US" sz="2000" dirty="0"/>
              <a:t>”，这是提示您集中注意力。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之后会出现一系列的九宫格图片，从</a:t>
            </a:r>
            <a:r>
              <a:rPr lang="zh-CN" altLang="en-US" sz="2000" dirty="0">
                <a:solidFill>
                  <a:srgbClr val="FF0000"/>
                </a:solidFill>
              </a:rPr>
              <a:t>第二幅图片</a:t>
            </a:r>
            <a:r>
              <a:rPr lang="zh-CN" altLang="en-US" sz="2000" dirty="0"/>
              <a:t>出现时，您需要对</a:t>
            </a:r>
            <a:r>
              <a:rPr lang="zh-CN" altLang="en-US" sz="2000" u="sng" dirty="0"/>
              <a:t>后续所有图片</a:t>
            </a:r>
            <a:r>
              <a:rPr lang="zh-CN" altLang="en-US" sz="2000" dirty="0"/>
              <a:t>判断该图片中</a:t>
            </a: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</a:rPr>
              <a:t>橙色方块</a:t>
            </a:r>
            <a:r>
              <a:rPr lang="zh-CN" altLang="en-US" sz="2000" dirty="0"/>
              <a:t>位置与</a:t>
            </a:r>
            <a:r>
              <a:rPr lang="zh-CN" altLang="en-US" sz="2000" dirty="0">
                <a:solidFill>
                  <a:srgbClr val="FF0000"/>
                </a:solidFill>
              </a:rPr>
              <a:t>前一幅图片</a:t>
            </a:r>
            <a:r>
              <a:rPr lang="zh-CN" altLang="en-US" sz="2000" dirty="0"/>
              <a:t>是否一致。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如果一致，请按左键</a:t>
            </a:r>
            <a:endParaRPr lang="en-US" altLang="zh-CN" sz="2000" dirty="0"/>
          </a:p>
          <a:p>
            <a:r>
              <a:rPr lang="zh-CN" altLang="en-US" sz="2000" dirty="0"/>
              <a:t>如果不一致，请按右键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按下</a:t>
            </a:r>
            <a:r>
              <a:rPr lang="zh-CN" altLang="en-US" sz="2000" b="1" dirty="0">
                <a:solidFill>
                  <a:srgbClr val="FFFF00"/>
                </a:solidFill>
              </a:rPr>
              <a:t>空格键</a:t>
            </a:r>
            <a:r>
              <a:rPr lang="zh-CN" altLang="en-US" sz="2000" dirty="0"/>
              <a:t>开始</a:t>
            </a:r>
            <a:r>
              <a:rPr lang="zh-CN" altLang="en-US" sz="2000" b="1" dirty="0">
                <a:solidFill>
                  <a:srgbClr val="FFFF00"/>
                </a:solidFill>
              </a:rPr>
              <a:t>练习</a:t>
            </a:r>
            <a:r>
              <a:rPr lang="zh-CN" altLang="en-US" sz="2000" dirty="0"/>
              <a:t>第一种类型测试</a:t>
            </a:r>
            <a:endParaRPr lang="en-US" altLang="zh-CN" sz="2000" dirty="0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DB9C6825-30B0-46C0-B2A1-AB0A93C45C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9507" y="4387485"/>
            <a:ext cx="2737341" cy="1005927"/>
          </a:xfrm>
          <a:prstGeom prst="rect">
            <a:avLst/>
          </a:prstGeom>
        </p:spPr>
      </p:pic>
      <p:sp>
        <p:nvSpPr>
          <p:cNvPr id="48" name="椭圆 47">
            <a:extLst>
              <a:ext uri="{FF2B5EF4-FFF2-40B4-BE49-F238E27FC236}">
                <a16:creationId xmlns:a16="http://schemas.microsoft.com/office/drawing/2014/main" id="{D80B9EBC-D710-4955-809C-395D046E9419}"/>
              </a:ext>
            </a:extLst>
          </p:cNvPr>
          <p:cNvSpPr/>
          <p:nvPr/>
        </p:nvSpPr>
        <p:spPr>
          <a:xfrm>
            <a:off x="8994566" y="5005240"/>
            <a:ext cx="182546" cy="18659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08EA2B4C-02B0-4A15-99A1-72984EE43EA4}"/>
              </a:ext>
            </a:extLst>
          </p:cNvPr>
          <p:cNvSpPr/>
          <p:nvPr/>
        </p:nvSpPr>
        <p:spPr>
          <a:xfrm>
            <a:off x="11199637" y="5014307"/>
            <a:ext cx="182546" cy="18659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下弧形 1">
            <a:extLst>
              <a:ext uri="{FF2B5EF4-FFF2-40B4-BE49-F238E27FC236}">
                <a16:creationId xmlns:a16="http://schemas.microsoft.com/office/drawing/2014/main" id="{ABE3031A-08EC-DC9A-82DB-8DB2F2343904}"/>
              </a:ext>
            </a:extLst>
          </p:cNvPr>
          <p:cNvSpPr/>
          <p:nvPr/>
        </p:nvSpPr>
        <p:spPr>
          <a:xfrm rot="14518745">
            <a:off x="4224817" y="5603891"/>
            <a:ext cx="1062388" cy="474676"/>
          </a:xfrm>
          <a:prstGeom prst="curvedUp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455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3105B1B-92D4-4A4D-A17C-13881C5DC64F}"/>
              </a:ext>
            </a:extLst>
          </p:cNvPr>
          <p:cNvSpPr txBox="1"/>
          <p:nvPr/>
        </p:nvSpPr>
        <p:spPr>
          <a:xfrm>
            <a:off x="4355841" y="298578"/>
            <a:ext cx="3480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/>
              <a:t>指导语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4A1A352-5C0B-4B7E-8520-67530171CC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7243" y="298578"/>
            <a:ext cx="879605" cy="879605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C7EA5DB-A812-46AA-A0C6-7053870286F8}"/>
              </a:ext>
            </a:extLst>
          </p:cNvPr>
          <p:cNvCxnSpPr>
            <a:cxnSpLocks/>
          </p:cNvCxnSpPr>
          <p:nvPr/>
        </p:nvCxnSpPr>
        <p:spPr>
          <a:xfrm>
            <a:off x="746450" y="738380"/>
            <a:ext cx="2455400" cy="595697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A6C27E83-29BE-49C3-9469-BE00DB2EC331}"/>
              </a:ext>
            </a:extLst>
          </p:cNvPr>
          <p:cNvSpPr/>
          <p:nvPr/>
        </p:nvSpPr>
        <p:spPr>
          <a:xfrm>
            <a:off x="1049694" y="298578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0C3D538-AAB9-4BCB-8505-B37630587EBF}"/>
              </a:ext>
            </a:extLst>
          </p:cNvPr>
          <p:cNvSpPr/>
          <p:nvPr/>
        </p:nvSpPr>
        <p:spPr>
          <a:xfrm>
            <a:off x="1426029" y="1216088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80D9710-2CA0-4AB7-AFAE-469DF410EF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977" y="1404897"/>
            <a:ext cx="409088" cy="374137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9557C0D0-1487-4CC5-B9DB-36EABB5788B3}"/>
              </a:ext>
            </a:extLst>
          </p:cNvPr>
          <p:cNvSpPr/>
          <p:nvPr/>
        </p:nvSpPr>
        <p:spPr>
          <a:xfrm>
            <a:off x="1792937" y="2167247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DC361A5-7D80-486B-ABD0-E89AB1704390}"/>
              </a:ext>
            </a:extLst>
          </p:cNvPr>
          <p:cNvSpPr/>
          <p:nvPr/>
        </p:nvSpPr>
        <p:spPr>
          <a:xfrm>
            <a:off x="2248678" y="3118406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CB91E7B-6D6C-47BD-8C1A-F23DEBD79B16}"/>
              </a:ext>
            </a:extLst>
          </p:cNvPr>
          <p:cNvSpPr/>
          <p:nvPr/>
        </p:nvSpPr>
        <p:spPr>
          <a:xfrm>
            <a:off x="2625013" y="4069565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72BC474-21A7-496A-AC2D-D82FE3DF4D85}"/>
              </a:ext>
            </a:extLst>
          </p:cNvPr>
          <p:cNvSpPr/>
          <p:nvPr/>
        </p:nvSpPr>
        <p:spPr>
          <a:xfrm>
            <a:off x="3051111" y="5020724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B34B868A-8429-439E-9F9C-2D0560B2F2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894" y="2342345"/>
            <a:ext cx="409375" cy="3744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85C891ED-20F1-4499-ADAA-8D83EF5899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482" y="3307084"/>
            <a:ext cx="409375" cy="3744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B7FF36F6-7023-45C4-8E48-C6E94CE1A4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817" y="4274062"/>
            <a:ext cx="409375" cy="37440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AE869601-DB0B-4425-84AB-6D4761F7C4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979" y="5205802"/>
            <a:ext cx="417247" cy="381600"/>
          </a:xfrm>
          <a:prstGeom prst="rect">
            <a:avLst/>
          </a:prstGeom>
        </p:spPr>
      </p:pic>
      <p:sp>
        <p:nvSpPr>
          <p:cNvPr id="37" name="箭头: 下弧形 36">
            <a:extLst>
              <a:ext uri="{FF2B5EF4-FFF2-40B4-BE49-F238E27FC236}">
                <a16:creationId xmlns:a16="http://schemas.microsoft.com/office/drawing/2014/main" id="{3970E0C8-02C1-4628-86AA-99BF24FED226}"/>
              </a:ext>
            </a:extLst>
          </p:cNvPr>
          <p:cNvSpPr/>
          <p:nvPr/>
        </p:nvSpPr>
        <p:spPr>
          <a:xfrm rot="14231358">
            <a:off x="2611799" y="1588706"/>
            <a:ext cx="1062388" cy="474676"/>
          </a:xfrm>
          <a:prstGeom prst="curvedUp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9" name="箭头: 下弧形 38">
            <a:extLst>
              <a:ext uri="{FF2B5EF4-FFF2-40B4-BE49-F238E27FC236}">
                <a16:creationId xmlns:a16="http://schemas.microsoft.com/office/drawing/2014/main" id="{36094042-A5F0-4D13-BE52-5DBFE602D6C5}"/>
              </a:ext>
            </a:extLst>
          </p:cNvPr>
          <p:cNvSpPr/>
          <p:nvPr/>
        </p:nvSpPr>
        <p:spPr>
          <a:xfrm rot="14518745">
            <a:off x="3009655" y="2578838"/>
            <a:ext cx="1062388" cy="474676"/>
          </a:xfrm>
          <a:prstGeom prst="curvedUp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0" name="箭头: 下弧形 39">
            <a:extLst>
              <a:ext uri="{FF2B5EF4-FFF2-40B4-BE49-F238E27FC236}">
                <a16:creationId xmlns:a16="http://schemas.microsoft.com/office/drawing/2014/main" id="{26C75EC7-12D1-4852-B5B8-B5F64A85E6D8}"/>
              </a:ext>
            </a:extLst>
          </p:cNvPr>
          <p:cNvSpPr/>
          <p:nvPr/>
        </p:nvSpPr>
        <p:spPr>
          <a:xfrm rot="14518745">
            <a:off x="3357066" y="3627680"/>
            <a:ext cx="1062388" cy="474676"/>
          </a:xfrm>
          <a:prstGeom prst="curvedUp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1" name="箭头: 下弧形 40">
            <a:extLst>
              <a:ext uri="{FF2B5EF4-FFF2-40B4-BE49-F238E27FC236}">
                <a16:creationId xmlns:a16="http://schemas.microsoft.com/office/drawing/2014/main" id="{7943E281-774F-4EC4-B27E-03FED052AE38}"/>
              </a:ext>
            </a:extLst>
          </p:cNvPr>
          <p:cNvSpPr/>
          <p:nvPr/>
        </p:nvSpPr>
        <p:spPr>
          <a:xfrm rot="14518745">
            <a:off x="3823718" y="4617150"/>
            <a:ext cx="1062388" cy="474676"/>
          </a:xfrm>
          <a:prstGeom prst="curvedUp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6B0DF5-BADE-4ECD-BAC2-1FD0EDFCA1E3}"/>
              </a:ext>
            </a:extLst>
          </p:cNvPr>
          <p:cNvSpPr txBox="1"/>
          <p:nvPr/>
        </p:nvSpPr>
        <p:spPr>
          <a:xfrm>
            <a:off x="3401572" y="6070202"/>
            <a:ext cx="1282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……</a:t>
            </a:r>
            <a:endParaRPr lang="zh-CN" altLang="en-US" sz="2800" b="1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A498A69-D21A-4A70-A5D7-66BBB5C203CF}"/>
              </a:ext>
            </a:extLst>
          </p:cNvPr>
          <p:cNvSpPr txBox="1"/>
          <p:nvPr/>
        </p:nvSpPr>
        <p:spPr>
          <a:xfrm>
            <a:off x="5355771" y="1404897"/>
            <a:ext cx="608977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本测试主要考察记忆能力，包括三种类型的记忆。</a:t>
            </a:r>
            <a:endParaRPr lang="en-US" altLang="zh-CN" sz="2000" b="1" dirty="0"/>
          </a:p>
          <a:p>
            <a:r>
              <a:rPr lang="zh-CN" altLang="en-US" sz="2000" b="1" dirty="0"/>
              <a:t>如左图所示，这是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第一种类型</a:t>
            </a:r>
            <a:r>
              <a:rPr lang="zh-CN" altLang="en-US" sz="2000" b="1" dirty="0"/>
              <a:t>的测试。</a:t>
            </a:r>
            <a:endParaRPr lang="en-US" altLang="zh-CN" sz="2000" b="1" dirty="0"/>
          </a:p>
          <a:p>
            <a:endParaRPr lang="en-US" altLang="zh-CN" sz="2000" dirty="0"/>
          </a:p>
          <a:p>
            <a:r>
              <a:rPr lang="zh-CN" altLang="en-US" sz="2000" dirty="0"/>
              <a:t>测试开始时，屏幕中间会出现注视点“</a:t>
            </a:r>
            <a:r>
              <a:rPr lang="en-US" altLang="zh-CN" sz="2000" dirty="0"/>
              <a:t>+</a:t>
            </a:r>
            <a:r>
              <a:rPr lang="zh-CN" altLang="en-US" sz="2000" dirty="0"/>
              <a:t>”，这是提示您集中注意力。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之后会出现一系列的九宫格图片，从</a:t>
            </a:r>
            <a:r>
              <a:rPr lang="zh-CN" altLang="en-US" sz="2000" dirty="0">
                <a:solidFill>
                  <a:srgbClr val="FF0000"/>
                </a:solidFill>
              </a:rPr>
              <a:t>第二幅图片</a:t>
            </a:r>
            <a:r>
              <a:rPr lang="zh-CN" altLang="en-US" sz="2000" dirty="0"/>
              <a:t>出现时，您需要对</a:t>
            </a:r>
            <a:r>
              <a:rPr lang="zh-CN" altLang="en-US" sz="2000" u="sng" dirty="0"/>
              <a:t>后续所有图片</a:t>
            </a:r>
            <a:r>
              <a:rPr lang="zh-CN" altLang="en-US" sz="2000" dirty="0"/>
              <a:t>判断该图片中</a:t>
            </a: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</a:rPr>
              <a:t>橙色方块</a:t>
            </a:r>
            <a:r>
              <a:rPr lang="zh-CN" altLang="en-US" sz="2000" dirty="0"/>
              <a:t>位置与</a:t>
            </a:r>
            <a:r>
              <a:rPr lang="zh-CN" altLang="en-US" sz="2000" dirty="0">
                <a:solidFill>
                  <a:srgbClr val="FF0000"/>
                </a:solidFill>
              </a:rPr>
              <a:t>前一幅图片</a:t>
            </a:r>
            <a:r>
              <a:rPr lang="zh-CN" altLang="en-US" sz="2000" dirty="0"/>
              <a:t>是否一致。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如果一致，请按左键</a:t>
            </a:r>
            <a:endParaRPr lang="en-US" altLang="zh-CN" sz="2000" dirty="0"/>
          </a:p>
          <a:p>
            <a:r>
              <a:rPr lang="zh-CN" altLang="en-US" sz="2000" dirty="0"/>
              <a:t>如果不一致，请按右键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按下</a:t>
            </a:r>
            <a:r>
              <a:rPr lang="zh-CN" altLang="en-US" sz="2000" b="1" dirty="0">
                <a:solidFill>
                  <a:srgbClr val="00B0F0"/>
                </a:solidFill>
              </a:rPr>
              <a:t>空格键正式</a:t>
            </a:r>
            <a:r>
              <a:rPr lang="zh-CN" altLang="en-US" sz="2000" dirty="0"/>
              <a:t>开始第一种类型测试</a:t>
            </a:r>
            <a:endParaRPr lang="en-US" altLang="zh-CN" sz="2000" dirty="0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DB9C6825-30B0-46C0-B2A1-AB0A93C45C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9507" y="4387485"/>
            <a:ext cx="2737341" cy="1005927"/>
          </a:xfrm>
          <a:prstGeom prst="rect">
            <a:avLst/>
          </a:prstGeom>
        </p:spPr>
      </p:pic>
      <p:sp>
        <p:nvSpPr>
          <p:cNvPr id="48" name="椭圆 47">
            <a:extLst>
              <a:ext uri="{FF2B5EF4-FFF2-40B4-BE49-F238E27FC236}">
                <a16:creationId xmlns:a16="http://schemas.microsoft.com/office/drawing/2014/main" id="{D80B9EBC-D710-4955-809C-395D046E9419}"/>
              </a:ext>
            </a:extLst>
          </p:cNvPr>
          <p:cNvSpPr/>
          <p:nvPr/>
        </p:nvSpPr>
        <p:spPr>
          <a:xfrm>
            <a:off x="8994566" y="5005240"/>
            <a:ext cx="182546" cy="18659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08EA2B4C-02B0-4A15-99A1-72984EE43EA4}"/>
              </a:ext>
            </a:extLst>
          </p:cNvPr>
          <p:cNvSpPr/>
          <p:nvPr/>
        </p:nvSpPr>
        <p:spPr>
          <a:xfrm>
            <a:off x="11199637" y="5014307"/>
            <a:ext cx="182546" cy="18659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下弧形 1">
            <a:extLst>
              <a:ext uri="{FF2B5EF4-FFF2-40B4-BE49-F238E27FC236}">
                <a16:creationId xmlns:a16="http://schemas.microsoft.com/office/drawing/2014/main" id="{ABE3031A-08EC-DC9A-82DB-8DB2F2343904}"/>
              </a:ext>
            </a:extLst>
          </p:cNvPr>
          <p:cNvSpPr/>
          <p:nvPr/>
        </p:nvSpPr>
        <p:spPr>
          <a:xfrm rot="14518745">
            <a:off x="4224817" y="5603891"/>
            <a:ext cx="1062388" cy="474676"/>
          </a:xfrm>
          <a:prstGeom prst="curvedUp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9450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55EC23-2D06-EDA8-A57C-6FFAC71F3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A5922C6-E3B3-7C1E-5B58-B559546B77CC}"/>
              </a:ext>
            </a:extLst>
          </p:cNvPr>
          <p:cNvSpPr txBox="1"/>
          <p:nvPr/>
        </p:nvSpPr>
        <p:spPr>
          <a:xfrm>
            <a:off x="4355841" y="298578"/>
            <a:ext cx="3480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/>
              <a:t>指导语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64596EC-EA0A-B37B-5019-512D2E1B2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7243" y="298578"/>
            <a:ext cx="879605" cy="879605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510A78D-8A05-BA62-94CE-4BACB2639E02}"/>
              </a:ext>
            </a:extLst>
          </p:cNvPr>
          <p:cNvCxnSpPr>
            <a:cxnSpLocks/>
          </p:cNvCxnSpPr>
          <p:nvPr/>
        </p:nvCxnSpPr>
        <p:spPr>
          <a:xfrm>
            <a:off x="746450" y="738380"/>
            <a:ext cx="2455400" cy="595697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D6617E45-0EEC-85B1-FF2E-A0BCF171FE7D}"/>
              </a:ext>
            </a:extLst>
          </p:cNvPr>
          <p:cNvSpPr/>
          <p:nvPr/>
        </p:nvSpPr>
        <p:spPr>
          <a:xfrm>
            <a:off x="1049694" y="298578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26D284E-5B3A-8A16-4C2A-D465935636D1}"/>
              </a:ext>
            </a:extLst>
          </p:cNvPr>
          <p:cNvSpPr/>
          <p:nvPr/>
        </p:nvSpPr>
        <p:spPr>
          <a:xfrm>
            <a:off x="1426029" y="1216088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68E8565-8E24-EFD9-9DC9-2B29B74E3A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977" y="1404897"/>
            <a:ext cx="409088" cy="374137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DBA2FEB0-23DD-10FF-EA53-96B6E36B820F}"/>
              </a:ext>
            </a:extLst>
          </p:cNvPr>
          <p:cNvSpPr/>
          <p:nvPr/>
        </p:nvSpPr>
        <p:spPr>
          <a:xfrm>
            <a:off x="1792937" y="2167247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52F565C-9004-ECD4-E6C9-2A89B322CC9A}"/>
              </a:ext>
            </a:extLst>
          </p:cNvPr>
          <p:cNvSpPr/>
          <p:nvPr/>
        </p:nvSpPr>
        <p:spPr>
          <a:xfrm>
            <a:off x="2248678" y="3118406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C60435C-C786-DBF3-7D5E-1C84B935EA3D}"/>
              </a:ext>
            </a:extLst>
          </p:cNvPr>
          <p:cNvSpPr/>
          <p:nvPr/>
        </p:nvSpPr>
        <p:spPr>
          <a:xfrm>
            <a:off x="2625013" y="4069565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B8F39B4-E550-950E-E3B2-14F0C3C57B1D}"/>
              </a:ext>
            </a:extLst>
          </p:cNvPr>
          <p:cNvSpPr/>
          <p:nvPr/>
        </p:nvSpPr>
        <p:spPr>
          <a:xfrm>
            <a:off x="3051111" y="5020724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6175C2AC-41C6-D3D7-2D80-938C185D3D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894" y="2342345"/>
            <a:ext cx="409375" cy="3744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578DAB03-AEE0-AE56-D51B-2AE7237E1B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482" y="3307084"/>
            <a:ext cx="409375" cy="3744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52A4AF89-4C5A-C799-E3AE-9CE74C798A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817" y="4274062"/>
            <a:ext cx="409375" cy="37440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0E4C8F88-6585-680D-D4B4-7C4FF0ACC0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979" y="5205802"/>
            <a:ext cx="417247" cy="381600"/>
          </a:xfrm>
          <a:prstGeom prst="rect">
            <a:avLst/>
          </a:prstGeom>
        </p:spPr>
      </p:pic>
      <p:sp>
        <p:nvSpPr>
          <p:cNvPr id="37" name="箭头: 下弧形 36">
            <a:extLst>
              <a:ext uri="{FF2B5EF4-FFF2-40B4-BE49-F238E27FC236}">
                <a16:creationId xmlns:a16="http://schemas.microsoft.com/office/drawing/2014/main" id="{400F6094-FE10-D99C-A518-D6B3B6760295}"/>
              </a:ext>
            </a:extLst>
          </p:cNvPr>
          <p:cNvSpPr/>
          <p:nvPr/>
        </p:nvSpPr>
        <p:spPr>
          <a:xfrm rot="14651603">
            <a:off x="2362475" y="2046100"/>
            <a:ext cx="2150818" cy="474676"/>
          </a:xfrm>
          <a:prstGeom prst="curvedUp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BC07D31-1D50-1BF4-1C48-039589A6036D}"/>
              </a:ext>
            </a:extLst>
          </p:cNvPr>
          <p:cNvSpPr txBox="1"/>
          <p:nvPr/>
        </p:nvSpPr>
        <p:spPr>
          <a:xfrm>
            <a:off x="3401572" y="6070202"/>
            <a:ext cx="1282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……</a:t>
            </a:r>
            <a:endParaRPr lang="zh-CN" altLang="en-US" sz="2800" b="1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E8621DF-A131-0C7F-CBC0-9E45C18624C7}"/>
              </a:ext>
            </a:extLst>
          </p:cNvPr>
          <p:cNvSpPr txBox="1"/>
          <p:nvPr/>
        </p:nvSpPr>
        <p:spPr>
          <a:xfrm>
            <a:off x="5355771" y="1404897"/>
            <a:ext cx="608977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本测试主要考察记忆能力，包括三种类型的记忆。</a:t>
            </a:r>
            <a:endParaRPr lang="en-US" altLang="zh-CN" sz="2000" b="1" dirty="0"/>
          </a:p>
          <a:p>
            <a:r>
              <a:rPr lang="zh-CN" altLang="en-US" sz="2000" b="1" dirty="0"/>
              <a:t>如左图所示，这是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第二种类型</a:t>
            </a:r>
            <a:r>
              <a:rPr lang="zh-CN" altLang="en-US" sz="2000" b="1" dirty="0"/>
              <a:t>的测试。</a:t>
            </a:r>
            <a:endParaRPr lang="en-US" altLang="zh-CN" sz="2000" b="1" dirty="0"/>
          </a:p>
          <a:p>
            <a:endParaRPr lang="en-US" altLang="zh-CN" sz="2000" dirty="0"/>
          </a:p>
          <a:p>
            <a:r>
              <a:rPr lang="zh-CN" altLang="en-US" sz="2000" dirty="0"/>
              <a:t>测试开始时，屏幕中间会出现注视点“</a:t>
            </a:r>
            <a:r>
              <a:rPr lang="en-US" altLang="zh-CN" sz="2000" dirty="0"/>
              <a:t>+</a:t>
            </a:r>
            <a:r>
              <a:rPr lang="zh-CN" altLang="en-US" sz="2000" dirty="0"/>
              <a:t>”，这是提示您集中注意力。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之后会出现一系列的九宫格图片，从</a:t>
            </a:r>
            <a:r>
              <a:rPr lang="zh-CN" altLang="en-US" sz="2000" dirty="0">
                <a:solidFill>
                  <a:srgbClr val="FF0000"/>
                </a:solidFill>
              </a:rPr>
              <a:t>第三幅图片</a:t>
            </a:r>
            <a:r>
              <a:rPr lang="zh-CN" altLang="en-US" sz="2000" dirty="0"/>
              <a:t>出现时，您需要对</a:t>
            </a:r>
            <a:r>
              <a:rPr lang="zh-CN" altLang="en-US" sz="2000" u="sng" dirty="0"/>
              <a:t>后续所有图片</a:t>
            </a:r>
            <a:r>
              <a:rPr lang="zh-CN" altLang="en-US" sz="2000" dirty="0"/>
              <a:t>判断该图片中</a:t>
            </a: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</a:rPr>
              <a:t>橙色方块</a:t>
            </a:r>
            <a:r>
              <a:rPr lang="zh-CN" altLang="en-US" sz="2000" dirty="0"/>
              <a:t>位置与</a:t>
            </a:r>
            <a:r>
              <a:rPr lang="zh-CN" altLang="en-US" sz="2000" dirty="0">
                <a:solidFill>
                  <a:srgbClr val="FF0000"/>
                </a:solidFill>
              </a:rPr>
              <a:t>两幅前的图片</a:t>
            </a:r>
            <a:r>
              <a:rPr lang="zh-CN" altLang="en-US" sz="2000" dirty="0"/>
              <a:t>是否一致。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如果一致，请按左键</a:t>
            </a:r>
            <a:endParaRPr lang="en-US" altLang="zh-CN" sz="2000" dirty="0"/>
          </a:p>
          <a:p>
            <a:r>
              <a:rPr lang="zh-CN" altLang="en-US" sz="2000" dirty="0"/>
              <a:t>如果不一致，请按右键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按下</a:t>
            </a:r>
            <a:r>
              <a:rPr lang="zh-CN" altLang="en-US" sz="2000" b="1" dirty="0">
                <a:solidFill>
                  <a:srgbClr val="FFFF00"/>
                </a:solidFill>
              </a:rPr>
              <a:t>空格键</a:t>
            </a:r>
            <a:r>
              <a:rPr lang="zh-CN" altLang="en-US" sz="2000" dirty="0"/>
              <a:t>开始</a:t>
            </a:r>
            <a:r>
              <a:rPr lang="zh-CN" altLang="en-US" sz="2000" b="1" dirty="0">
                <a:solidFill>
                  <a:srgbClr val="FFFF00"/>
                </a:solidFill>
              </a:rPr>
              <a:t>练习</a:t>
            </a:r>
            <a:r>
              <a:rPr lang="zh-CN" altLang="en-US" sz="2000" dirty="0"/>
              <a:t>第二种类型测试</a:t>
            </a:r>
            <a:endParaRPr lang="en-US" altLang="zh-CN" sz="2000" dirty="0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D1ADF98B-0078-E6C0-7B6E-0314046152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9507" y="4387485"/>
            <a:ext cx="2737341" cy="1005927"/>
          </a:xfrm>
          <a:prstGeom prst="rect">
            <a:avLst/>
          </a:prstGeom>
        </p:spPr>
      </p:pic>
      <p:sp>
        <p:nvSpPr>
          <p:cNvPr id="48" name="椭圆 47">
            <a:extLst>
              <a:ext uri="{FF2B5EF4-FFF2-40B4-BE49-F238E27FC236}">
                <a16:creationId xmlns:a16="http://schemas.microsoft.com/office/drawing/2014/main" id="{83EA641A-2A02-5C7C-0EAB-F31F50243802}"/>
              </a:ext>
            </a:extLst>
          </p:cNvPr>
          <p:cNvSpPr/>
          <p:nvPr/>
        </p:nvSpPr>
        <p:spPr>
          <a:xfrm>
            <a:off x="8994566" y="5005240"/>
            <a:ext cx="182546" cy="18659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44C08DD3-720A-4FBC-0F44-2044BCED07D8}"/>
              </a:ext>
            </a:extLst>
          </p:cNvPr>
          <p:cNvSpPr/>
          <p:nvPr/>
        </p:nvSpPr>
        <p:spPr>
          <a:xfrm>
            <a:off x="11199637" y="5014307"/>
            <a:ext cx="182546" cy="18659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下弧形 1">
            <a:extLst>
              <a:ext uri="{FF2B5EF4-FFF2-40B4-BE49-F238E27FC236}">
                <a16:creationId xmlns:a16="http://schemas.microsoft.com/office/drawing/2014/main" id="{2FC239CC-5F12-2A3B-588A-6F435C5F16EE}"/>
              </a:ext>
            </a:extLst>
          </p:cNvPr>
          <p:cNvSpPr/>
          <p:nvPr/>
        </p:nvSpPr>
        <p:spPr>
          <a:xfrm rot="14651603">
            <a:off x="2767057" y="3117578"/>
            <a:ext cx="2150818" cy="474676"/>
          </a:xfrm>
          <a:prstGeom prst="curvedUp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箭头: 下弧形 2">
            <a:extLst>
              <a:ext uri="{FF2B5EF4-FFF2-40B4-BE49-F238E27FC236}">
                <a16:creationId xmlns:a16="http://schemas.microsoft.com/office/drawing/2014/main" id="{4C422776-1B04-D641-7EE8-F284F727D3BC}"/>
              </a:ext>
            </a:extLst>
          </p:cNvPr>
          <p:cNvSpPr/>
          <p:nvPr/>
        </p:nvSpPr>
        <p:spPr>
          <a:xfrm rot="14651603">
            <a:off x="3161861" y="4092479"/>
            <a:ext cx="2150818" cy="474676"/>
          </a:xfrm>
          <a:prstGeom prst="curvedUp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箭头: 下弧形 3">
            <a:extLst>
              <a:ext uri="{FF2B5EF4-FFF2-40B4-BE49-F238E27FC236}">
                <a16:creationId xmlns:a16="http://schemas.microsoft.com/office/drawing/2014/main" id="{23EF2E86-2E89-DDAE-0FDB-2A2EF70DFB57}"/>
              </a:ext>
            </a:extLst>
          </p:cNvPr>
          <p:cNvSpPr/>
          <p:nvPr/>
        </p:nvSpPr>
        <p:spPr>
          <a:xfrm rot="14651603">
            <a:off x="3571236" y="5163957"/>
            <a:ext cx="2150818" cy="474676"/>
          </a:xfrm>
          <a:prstGeom prst="curvedUp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434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55EC23-2D06-EDA8-A57C-6FFAC71F3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A5922C6-E3B3-7C1E-5B58-B559546B77CC}"/>
              </a:ext>
            </a:extLst>
          </p:cNvPr>
          <p:cNvSpPr txBox="1"/>
          <p:nvPr/>
        </p:nvSpPr>
        <p:spPr>
          <a:xfrm>
            <a:off x="4355841" y="298578"/>
            <a:ext cx="3480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/>
              <a:t>指导语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64596EC-EA0A-B37B-5019-512D2E1B2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7243" y="298578"/>
            <a:ext cx="879605" cy="879605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510A78D-8A05-BA62-94CE-4BACB2639E02}"/>
              </a:ext>
            </a:extLst>
          </p:cNvPr>
          <p:cNvCxnSpPr>
            <a:cxnSpLocks/>
          </p:cNvCxnSpPr>
          <p:nvPr/>
        </p:nvCxnSpPr>
        <p:spPr>
          <a:xfrm>
            <a:off x="746450" y="738380"/>
            <a:ext cx="2455400" cy="595697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D6617E45-0EEC-85B1-FF2E-A0BCF171FE7D}"/>
              </a:ext>
            </a:extLst>
          </p:cNvPr>
          <p:cNvSpPr/>
          <p:nvPr/>
        </p:nvSpPr>
        <p:spPr>
          <a:xfrm>
            <a:off x="1049694" y="298578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26D284E-5B3A-8A16-4C2A-D465935636D1}"/>
              </a:ext>
            </a:extLst>
          </p:cNvPr>
          <p:cNvSpPr/>
          <p:nvPr/>
        </p:nvSpPr>
        <p:spPr>
          <a:xfrm>
            <a:off x="1426029" y="1216088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68E8565-8E24-EFD9-9DC9-2B29B74E3A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977" y="1404897"/>
            <a:ext cx="409088" cy="374137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DBA2FEB0-23DD-10FF-EA53-96B6E36B820F}"/>
              </a:ext>
            </a:extLst>
          </p:cNvPr>
          <p:cNvSpPr/>
          <p:nvPr/>
        </p:nvSpPr>
        <p:spPr>
          <a:xfrm>
            <a:off x="1792937" y="2167247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52F565C-9004-ECD4-E6C9-2A89B322CC9A}"/>
              </a:ext>
            </a:extLst>
          </p:cNvPr>
          <p:cNvSpPr/>
          <p:nvPr/>
        </p:nvSpPr>
        <p:spPr>
          <a:xfrm>
            <a:off x="2248678" y="3118406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C60435C-C786-DBF3-7D5E-1C84B935EA3D}"/>
              </a:ext>
            </a:extLst>
          </p:cNvPr>
          <p:cNvSpPr/>
          <p:nvPr/>
        </p:nvSpPr>
        <p:spPr>
          <a:xfrm>
            <a:off x="2625013" y="4069565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B8F39B4-E550-950E-E3B2-14F0C3C57B1D}"/>
              </a:ext>
            </a:extLst>
          </p:cNvPr>
          <p:cNvSpPr/>
          <p:nvPr/>
        </p:nvSpPr>
        <p:spPr>
          <a:xfrm>
            <a:off x="3051111" y="5020724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6175C2AC-41C6-D3D7-2D80-938C185D3D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894" y="2342345"/>
            <a:ext cx="409375" cy="3744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578DAB03-AEE0-AE56-D51B-2AE7237E1B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482" y="3307084"/>
            <a:ext cx="409375" cy="3744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52A4AF89-4C5A-C799-E3AE-9CE74C798A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817" y="4274062"/>
            <a:ext cx="409375" cy="37440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0E4C8F88-6585-680D-D4B4-7C4FF0ACC0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979" y="5205802"/>
            <a:ext cx="417247" cy="381600"/>
          </a:xfrm>
          <a:prstGeom prst="rect">
            <a:avLst/>
          </a:prstGeom>
        </p:spPr>
      </p:pic>
      <p:sp>
        <p:nvSpPr>
          <p:cNvPr id="37" name="箭头: 下弧形 36">
            <a:extLst>
              <a:ext uri="{FF2B5EF4-FFF2-40B4-BE49-F238E27FC236}">
                <a16:creationId xmlns:a16="http://schemas.microsoft.com/office/drawing/2014/main" id="{400F6094-FE10-D99C-A518-D6B3B6760295}"/>
              </a:ext>
            </a:extLst>
          </p:cNvPr>
          <p:cNvSpPr/>
          <p:nvPr/>
        </p:nvSpPr>
        <p:spPr>
          <a:xfrm rot="14651603">
            <a:off x="2362475" y="2046100"/>
            <a:ext cx="2150818" cy="474676"/>
          </a:xfrm>
          <a:prstGeom prst="curvedUp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BC07D31-1D50-1BF4-1C48-039589A6036D}"/>
              </a:ext>
            </a:extLst>
          </p:cNvPr>
          <p:cNvSpPr txBox="1"/>
          <p:nvPr/>
        </p:nvSpPr>
        <p:spPr>
          <a:xfrm>
            <a:off x="3401572" y="6070202"/>
            <a:ext cx="1282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……</a:t>
            </a:r>
            <a:endParaRPr lang="zh-CN" altLang="en-US" sz="2800" b="1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E8621DF-A131-0C7F-CBC0-9E45C18624C7}"/>
              </a:ext>
            </a:extLst>
          </p:cNvPr>
          <p:cNvSpPr txBox="1"/>
          <p:nvPr/>
        </p:nvSpPr>
        <p:spPr>
          <a:xfrm>
            <a:off x="5355771" y="1404897"/>
            <a:ext cx="608977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本测试主要考察记忆能力，包括三种类型的记忆。</a:t>
            </a:r>
            <a:endParaRPr lang="en-US" altLang="zh-CN" sz="2000" b="1" dirty="0"/>
          </a:p>
          <a:p>
            <a:r>
              <a:rPr lang="zh-CN" altLang="en-US" sz="2000" b="1" dirty="0"/>
              <a:t>如左图所示，这是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第二种类型</a:t>
            </a:r>
            <a:r>
              <a:rPr lang="zh-CN" altLang="en-US" sz="2000" b="1" dirty="0"/>
              <a:t>的测试。</a:t>
            </a:r>
            <a:endParaRPr lang="en-US" altLang="zh-CN" sz="2000" b="1" dirty="0"/>
          </a:p>
          <a:p>
            <a:endParaRPr lang="en-US" altLang="zh-CN" sz="2000" dirty="0"/>
          </a:p>
          <a:p>
            <a:r>
              <a:rPr lang="zh-CN" altLang="en-US" sz="2000" dirty="0"/>
              <a:t>测试开始时，屏幕中间会出现注视点“</a:t>
            </a:r>
            <a:r>
              <a:rPr lang="en-US" altLang="zh-CN" sz="2000" dirty="0"/>
              <a:t>+</a:t>
            </a:r>
            <a:r>
              <a:rPr lang="zh-CN" altLang="en-US" sz="2000" dirty="0"/>
              <a:t>”，这是提示您集中注意力。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之后会出现一系列的九宫格图片，从</a:t>
            </a:r>
            <a:r>
              <a:rPr lang="zh-CN" altLang="en-US" sz="2000" dirty="0">
                <a:solidFill>
                  <a:srgbClr val="FF0000"/>
                </a:solidFill>
              </a:rPr>
              <a:t>第三幅图片</a:t>
            </a:r>
            <a:r>
              <a:rPr lang="zh-CN" altLang="en-US" sz="2000" dirty="0"/>
              <a:t>出现时，您需要对</a:t>
            </a:r>
            <a:r>
              <a:rPr lang="zh-CN" altLang="en-US" sz="2000" u="sng" dirty="0"/>
              <a:t>后续所有图片</a:t>
            </a:r>
            <a:r>
              <a:rPr lang="zh-CN" altLang="en-US" sz="2000" dirty="0"/>
              <a:t>判断该图片中</a:t>
            </a: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</a:rPr>
              <a:t>橙色方块</a:t>
            </a:r>
            <a:r>
              <a:rPr lang="zh-CN" altLang="en-US" sz="2000" dirty="0"/>
              <a:t>位置与</a:t>
            </a:r>
            <a:r>
              <a:rPr lang="zh-CN" altLang="en-US" sz="2000" dirty="0">
                <a:solidFill>
                  <a:srgbClr val="FF0000"/>
                </a:solidFill>
              </a:rPr>
              <a:t>两幅前的图片</a:t>
            </a:r>
            <a:r>
              <a:rPr lang="zh-CN" altLang="en-US" sz="2000" dirty="0"/>
              <a:t>是否一致。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如果一致，请按左键</a:t>
            </a:r>
            <a:endParaRPr lang="en-US" altLang="zh-CN" sz="2000" dirty="0"/>
          </a:p>
          <a:p>
            <a:r>
              <a:rPr lang="zh-CN" altLang="en-US" sz="2000" dirty="0"/>
              <a:t>如果不一致，请按右键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按下</a:t>
            </a:r>
            <a:r>
              <a:rPr lang="zh-CN" altLang="en-US" sz="2000" b="1" dirty="0">
                <a:solidFill>
                  <a:srgbClr val="00B0F0"/>
                </a:solidFill>
              </a:rPr>
              <a:t>空格键正式</a:t>
            </a:r>
            <a:r>
              <a:rPr lang="zh-CN" altLang="en-US" sz="2000" dirty="0"/>
              <a:t>开始第二种类型测试</a:t>
            </a:r>
            <a:endParaRPr lang="en-US" altLang="zh-CN" sz="2000" dirty="0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D1ADF98B-0078-E6C0-7B6E-0314046152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9507" y="4387485"/>
            <a:ext cx="2737341" cy="1005927"/>
          </a:xfrm>
          <a:prstGeom prst="rect">
            <a:avLst/>
          </a:prstGeom>
        </p:spPr>
      </p:pic>
      <p:sp>
        <p:nvSpPr>
          <p:cNvPr id="48" name="椭圆 47">
            <a:extLst>
              <a:ext uri="{FF2B5EF4-FFF2-40B4-BE49-F238E27FC236}">
                <a16:creationId xmlns:a16="http://schemas.microsoft.com/office/drawing/2014/main" id="{83EA641A-2A02-5C7C-0EAB-F31F50243802}"/>
              </a:ext>
            </a:extLst>
          </p:cNvPr>
          <p:cNvSpPr/>
          <p:nvPr/>
        </p:nvSpPr>
        <p:spPr>
          <a:xfrm>
            <a:off x="8994566" y="5005240"/>
            <a:ext cx="182546" cy="18659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44C08DD3-720A-4FBC-0F44-2044BCED07D8}"/>
              </a:ext>
            </a:extLst>
          </p:cNvPr>
          <p:cNvSpPr/>
          <p:nvPr/>
        </p:nvSpPr>
        <p:spPr>
          <a:xfrm>
            <a:off x="11199637" y="5014307"/>
            <a:ext cx="182546" cy="18659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下弧形 1">
            <a:extLst>
              <a:ext uri="{FF2B5EF4-FFF2-40B4-BE49-F238E27FC236}">
                <a16:creationId xmlns:a16="http://schemas.microsoft.com/office/drawing/2014/main" id="{2FC239CC-5F12-2A3B-588A-6F435C5F16EE}"/>
              </a:ext>
            </a:extLst>
          </p:cNvPr>
          <p:cNvSpPr/>
          <p:nvPr/>
        </p:nvSpPr>
        <p:spPr>
          <a:xfrm rot="14651603">
            <a:off x="2767057" y="3117578"/>
            <a:ext cx="2150818" cy="474676"/>
          </a:xfrm>
          <a:prstGeom prst="curvedUp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箭头: 下弧形 2">
            <a:extLst>
              <a:ext uri="{FF2B5EF4-FFF2-40B4-BE49-F238E27FC236}">
                <a16:creationId xmlns:a16="http://schemas.microsoft.com/office/drawing/2014/main" id="{4C422776-1B04-D641-7EE8-F284F727D3BC}"/>
              </a:ext>
            </a:extLst>
          </p:cNvPr>
          <p:cNvSpPr/>
          <p:nvPr/>
        </p:nvSpPr>
        <p:spPr>
          <a:xfrm rot="14651603">
            <a:off x="3161861" y="4092479"/>
            <a:ext cx="2150818" cy="474676"/>
          </a:xfrm>
          <a:prstGeom prst="curvedUp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箭头: 下弧形 3">
            <a:extLst>
              <a:ext uri="{FF2B5EF4-FFF2-40B4-BE49-F238E27FC236}">
                <a16:creationId xmlns:a16="http://schemas.microsoft.com/office/drawing/2014/main" id="{23EF2E86-2E89-DDAE-0FDB-2A2EF70DFB57}"/>
              </a:ext>
            </a:extLst>
          </p:cNvPr>
          <p:cNvSpPr/>
          <p:nvPr/>
        </p:nvSpPr>
        <p:spPr>
          <a:xfrm rot="14651603">
            <a:off x="3571236" y="5163957"/>
            <a:ext cx="2150818" cy="474676"/>
          </a:xfrm>
          <a:prstGeom prst="curvedUp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241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02DFE2-5AE9-F626-19DC-978D3B2D5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9FE0CCF-229A-9E3D-1532-B0DDC3F869D7}"/>
              </a:ext>
            </a:extLst>
          </p:cNvPr>
          <p:cNvSpPr txBox="1"/>
          <p:nvPr/>
        </p:nvSpPr>
        <p:spPr>
          <a:xfrm>
            <a:off x="4355841" y="298578"/>
            <a:ext cx="3480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/>
              <a:t>指导语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21A4353-F90C-7A32-D9DB-10830C4548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7243" y="298578"/>
            <a:ext cx="879605" cy="879605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5FC73D7-F071-7BAF-4650-CEC9D0C7AFBF}"/>
              </a:ext>
            </a:extLst>
          </p:cNvPr>
          <p:cNvCxnSpPr>
            <a:cxnSpLocks/>
          </p:cNvCxnSpPr>
          <p:nvPr/>
        </p:nvCxnSpPr>
        <p:spPr>
          <a:xfrm>
            <a:off x="746450" y="738380"/>
            <a:ext cx="2455400" cy="595697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CD5DB79A-BEDF-5EC2-0917-D8249F4CD696}"/>
              </a:ext>
            </a:extLst>
          </p:cNvPr>
          <p:cNvSpPr/>
          <p:nvPr/>
        </p:nvSpPr>
        <p:spPr>
          <a:xfrm>
            <a:off x="1049694" y="298578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291019A-BE1F-0525-E1D2-28F04AA3CF36}"/>
              </a:ext>
            </a:extLst>
          </p:cNvPr>
          <p:cNvSpPr/>
          <p:nvPr/>
        </p:nvSpPr>
        <p:spPr>
          <a:xfrm>
            <a:off x="1426029" y="1216088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0364149-EDFA-F07C-51A5-5EE2C34B4D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977" y="1404897"/>
            <a:ext cx="409088" cy="374137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9B473561-00BF-351A-42E2-D1F5B21F60EB}"/>
              </a:ext>
            </a:extLst>
          </p:cNvPr>
          <p:cNvSpPr/>
          <p:nvPr/>
        </p:nvSpPr>
        <p:spPr>
          <a:xfrm>
            <a:off x="1792937" y="2167247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48AC07A-ADE7-A8A4-F25C-C691F593A5BE}"/>
              </a:ext>
            </a:extLst>
          </p:cNvPr>
          <p:cNvSpPr/>
          <p:nvPr/>
        </p:nvSpPr>
        <p:spPr>
          <a:xfrm>
            <a:off x="2248678" y="3118406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8443F62-BAAE-5007-CEC1-89EB34D4BC9F}"/>
              </a:ext>
            </a:extLst>
          </p:cNvPr>
          <p:cNvSpPr/>
          <p:nvPr/>
        </p:nvSpPr>
        <p:spPr>
          <a:xfrm>
            <a:off x="2625013" y="4069565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F7B710-2E63-0D41-CC4D-44AA2870272A}"/>
              </a:ext>
            </a:extLst>
          </p:cNvPr>
          <p:cNvSpPr/>
          <p:nvPr/>
        </p:nvSpPr>
        <p:spPr>
          <a:xfrm>
            <a:off x="3051111" y="5020724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5EB244C5-D972-89C5-770C-D960A84EF4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894" y="2342345"/>
            <a:ext cx="409375" cy="3744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E9AF7C89-6F72-B253-B81B-FD735FB45F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482" y="3307084"/>
            <a:ext cx="409375" cy="3744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B7C069BE-A102-D171-F4E1-CF8E2E74A1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817" y="4274062"/>
            <a:ext cx="409375" cy="37440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3C965CEE-6472-C08A-D04C-8827A40403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979" y="5205802"/>
            <a:ext cx="417247" cy="381600"/>
          </a:xfrm>
          <a:prstGeom prst="rect">
            <a:avLst/>
          </a:prstGeom>
        </p:spPr>
      </p:pic>
      <p:sp>
        <p:nvSpPr>
          <p:cNvPr id="37" name="箭头: 下弧形 36">
            <a:extLst>
              <a:ext uri="{FF2B5EF4-FFF2-40B4-BE49-F238E27FC236}">
                <a16:creationId xmlns:a16="http://schemas.microsoft.com/office/drawing/2014/main" id="{2D55D318-4FA2-58D8-4CFC-03F343042278}"/>
              </a:ext>
            </a:extLst>
          </p:cNvPr>
          <p:cNvSpPr/>
          <p:nvPr/>
        </p:nvSpPr>
        <p:spPr>
          <a:xfrm rot="14571113">
            <a:off x="1999543" y="2618970"/>
            <a:ext cx="3328365" cy="474676"/>
          </a:xfrm>
          <a:prstGeom prst="curvedUp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5B3A22F-3D6F-3084-E053-E96435D74AD0}"/>
              </a:ext>
            </a:extLst>
          </p:cNvPr>
          <p:cNvSpPr txBox="1"/>
          <p:nvPr/>
        </p:nvSpPr>
        <p:spPr>
          <a:xfrm>
            <a:off x="3401572" y="6070202"/>
            <a:ext cx="1282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……</a:t>
            </a:r>
            <a:endParaRPr lang="zh-CN" altLang="en-US" sz="2800" b="1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C6B2BCA-DEF6-953F-15F8-76CA4A8B5979}"/>
              </a:ext>
            </a:extLst>
          </p:cNvPr>
          <p:cNvSpPr txBox="1"/>
          <p:nvPr/>
        </p:nvSpPr>
        <p:spPr>
          <a:xfrm>
            <a:off x="5355771" y="1404897"/>
            <a:ext cx="608977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本测试主要考察记忆能力，包括三种类型的记忆。</a:t>
            </a:r>
            <a:endParaRPr lang="en-US" altLang="zh-CN" sz="2000" b="1" dirty="0"/>
          </a:p>
          <a:p>
            <a:r>
              <a:rPr lang="zh-CN" altLang="en-US" sz="2000" b="1" dirty="0"/>
              <a:t>如左图所示，这是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第三种类型</a:t>
            </a:r>
            <a:r>
              <a:rPr lang="zh-CN" altLang="en-US" sz="2000" b="1" dirty="0"/>
              <a:t>的测试。</a:t>
            </a:r>
            <a:endParaRPr lang="en-US" altLang="zh-CN" sz="2000" b="1" dirty="0"/>
          </a:p>
          <a:p>
            <a:endParaRPr lang="en-US" altLang="zh-CN" sz="2000" dirty="0"/>
          </a:p>
          <a:p>
            <a:r>
              <a:rPr lang="zh-CN" altLang="en-US" sz="2000" dirty="0"/>
              <a:t>测试开始时，屏幕中间会出现注视点“</a:t>
            </a:r>
            <a:r>
              <a:rPr lang="en-US" altLang="zh-CN" sz="2000" dirty="0"/>
              <a:t>+</a:t>
            </a:r>
            <a:r>
              <a:rPr lang="zh-CN" altLang="en-US" sz="2000" dirty="0"/>
              <a:t>”，这是提示您集中注意力。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之后会出现一系列的九宫格图片，从</a:t>
            </a:r>
            <a:r>
              <a:rPr lang="zh-CN" altLang="en-US" sz="2000" dirty="0">
                <a:solidFill>
                  <a:srgbClr val="FF0000"/>
                </a:solidFill>
              </a:rPr>
              <a:t>第四幅图片</a:t>
            </a:r>
            <a:r>
              <a:rPr lang="zh-CN" altLang="en-US" sz="2000" dirty="0"/>
              <a:t>出现时，您需要对</a:t>
            </a:r>
            <a:r>
              <a:rPr lang="zh-CN" altLang="en-US" sz="2000" u="sng" dirty="0"/>
              <a:t>后续所有图片</a:t>
            </a:r>
            <a:r>
              <a:rPr lang="zh-CN" altLang="en-US" sz="2000" dirty="0"/>
              <a:t>判断该图片中</a:t>
            </a: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</a:rPr>
              <a:t>橙色方块</a:t>
            </a:r>
            <a:r>
              <a:rPr lang="zh-CN" altLang="en-US" sz="2000" dirty="0"/>
              <a:t>位置与</a:t>
            </a:r>
            <a:r>
              <a:rPr lang="zh-CN" altLang="en-US" sz="2000" dirty="0">
                <a:solidFill>
                  <a:srgbClr val="FF0000"/>
                </a:solidFill>
              </a:rPr>
              <a:t>三幅前的图片</a:t>
            </a:r>
            <a:r>
              <a:rPr lang="zh-CN" altLang="en-US" sz="2000" dirty="0"/>
              <a:t>是否一致。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如果一致，请按左键</a:t>
            </a:r>
            <a:endParaRPr lang="en-US" altLang="zh-CN" sz="2000" dirty="0"/>
          </a:p>
          <a:p>
            <a:r>
              <a:rPr lang="zh-CN" altLang="en-US" sz="2000" dirty="0"/>
              <a:t>如果不一致，请按右键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按下</a:t>
            </a:r>
            <a:r>
              <a:rPr lang="zh-CN" altLang="en-US" sz="2000" b="1" dirty="0">
                <a:solidFill>
                  <a:srgbClr val="FFFF00"/>
                </a:solidFill>
              </a:rPr>
              <a:t>空格键</a:t>
            </a:r>
            <a:r>
              <a:rPr lang="zh-CN" altLang="en-US" sz="2000" dirty="0"/>
              <a:t>开始</a:t>
            </a:r>
            <a:r>
              <a:rPr lang="zh-CN" altLang="en-US" sz="2000" b="1" dirty="0">
                <a:solidFill>
                  <a:srgbClr val="FFFF00"/>
                </a:solidFill>
              </a:rPr>
              <a:t>练习</a:t>
            </a:r>
            <a:r>
              <a:rPr lang="zh-CN" altLang="en-US" sz="2000" dirty="0"/>
              <a:t>第三种类型测试</a:t>
            </a:r>
            <a:endParaRPr lang="en-US" altLang="zh-CN" sz="2000" dirty="0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9CD035EF-3248-21BB-D0D6-12D23EC9DD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9507" y="4387485"/>
            <a:ext cx="2737341" cy="1005927"/>
          </a:xfrm>
          <a:prstGeom prst="rect">
            <a:avLst/>
          </a:prstGeom>
        </p:spPr>
      </p:pic>
      <p:sp>
        <p:nvSpPr>
          <p:cNvPr id="48" name="椭圆 47">
            <a:extLst>
              <a:ext uri="{FF2B5EF4-FFF2-40B4-BE49-F238E27FC236}">
                <a16:creationId xmlns:a16="http://schemas.microsoft.com/office/drawing/2014/main" id="{F9955BC5-8CA7-B39A-D9FA-95C1F9F4CD50}"/>
              </a:ext>
            </a:extLst>
          </p:cNvPr>
          <p:cNvSpPr/>
          <p:nvPr/>
        </p:nvSpPr>
        <p:spPr>
          <a:xfrm>
            <a:off x="8994566" y="5005240"/>
            <a:ext cx="182546" cy="18659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1EF7AA8A-2AF5-62EF-881E-1119CB656A44}"/>
              </a:ext>
            </a:extLst>
          </p:cNvPr>
          <p:cNvSpPr/>
          <p:nvPr/>
        </p:nvSpPr>
        <p:spPr>
          <a:xfrm>
            <a:off x="11199637" y="5014307"/>
            <a:ext cx="182546" cy="18659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下弧形 1">
            <a:extLst>
              <a:ext uri="{FF2B5EF4-FFF2-40B4-BE49-F238E27FC236}">
                <a16:creationId xmlns:a16="http://schemas.microsoft.com/office/drawing/2014/main" id="{5D8FAF15-DB7E-A593-A3FB-0806DB038669}"/>
              </a:ext>
            </a:extLst>
          </p:cNvPr>
          <p:cNvSpPr/>
          <p:nvPr/>
        </p:nvSpPr>
        <p:spPr>
          <a:xfrm rot="14571113">
            <a:off x="2366450" y="3566939"/>
            <a:ext cx="3328365" cy="474676"/>
          </a:xfrm>
          <a:prstGeom prst="curvedUp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箭头: 下弧形 2">
            <a:extLst>
              <a:ext uri="{FF2B5EF4-FFF2-40B4-BE49-F238E27FC236}">
                <a16:creationId xmlns:a16="http://schemas.microsoft.com/office/drawing/2014/main" id="{1A977541-7D83-40C1-0873-2F993B89036A}"/>
              </a:ext>
            </a:extLst>
          </p:cNvPr>
          <p:cNvSpPr/>
          <p:nvPr/>
        </p:nvSpPr>
        <p:spPr>
          <a:xfrm rot="14571113">
            <a:off x="2716446" y="4450786"/>
            <a:ext cx="3328365" cy="474676"/>
          </a:xfrm>
          <a:prstGeom prst="curvedUp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3649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02DFE2-5AE9-F626-19DC-978D3B2D5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9FE0CCF-229A-9E3D-1532-B0DDC3F869D7}"/>
              </a:ext>
            </a:extLst>
          </p:cNvPr>
          <p:cNvSpPr txBox="1"/>
          <p:nvPr/>
        </p:nvSpPr>
        <p:spPr>
          <a:xfrm>
            <a:off x="4355841" y="298578"/>
            <a:ext cx="3480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/>
              <a:t>指导语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21A4353-F90C-7A32-D9DB-10830C4548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7243" y="298578"/>
            <a:ext cx="879605" cy="879605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5FC73D7-F071-7BAF-4650-CEC9D0C7AFBF}"/>
              </a:ext>
            </a:extLst>
          </p:cNvPr>
          <p:cNvCxnSpPr>
            <a:cxnSpLocks/>
          </p:cNvCxnSpPr>
          <p:nvPr/>
        </p:nvCxnSpPr>
        <p:spPr>
          <a:xfrm>
            <a:off x="746450" y="738380"/>
            <a:ext cx="2455400" cy="595697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CD5DB79A-BEDF-5EC2-0917-D8249F4CD696}"/>
              </a:ext>
            </a:extLst>
          </p:cNvPr>
          <p:cNvSpPr/>
          <p:nvPr/>
        </p:nvSpPr>
        <p:spPr>
          <a:xfrm>
            <a:off x="1049694" y="298578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291019A-BE1F-0525-E1D2-28F04AA3CF36}"/>
              </a:ext>
            </a:extLst>
          </p:cNvPr>
          <p:cNvSpPr/>
          <p:nvPr/>
        </p:nvSpPr>
        <p:spPr>
          <a:xfrm>
            <a:off x="1426029" y="1216088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0364149-EDFA-F07C-51A5-5EE2C34B4D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977" y="1404897"/>
            <a:ext cx="409088" cy="374137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9B473561-00BF-351A-42E2-D1F5B21F60EB}"/>
              </a:ext>
            </a:extLst>
          </p:cNvPr>
          <p:cNvSpPr/>
          <p:nvPr/>
        </p:nvSpPr>
        <p:spPr>
          <a:xfrm>
            <a:off x="1792937" y="2167247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48AC07A-ADE7-A8A4-F25C-C691F593A5BE}"/>
              </a:ext>
            </a:extLst>
          </p:cNvPr>
          <p:cNvSpPr/>
          <p:nvPr/>
        </p:nvSpPr>
        <p:spPr>
          <a:xfrm>
            <a:off x="2248678" y="3118406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8443F62-BAAE-5007-CEC1-89EB34D4BC9F}"/>
              </a:ext>
            </a:extLst>
          </p:cNvPr>
          <p:cNvSpPr/>
          <p:nvPr/>
        </p:nvSpPr>
        <p:spPr>
          <a:xfrm>
            <a:off x="2625013" y="4069565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F7B710-2E63-0D41-CC4D-44AA2870272A}"/>
              </a:ext>
            </a:extLst>
          </p:cNvPr>
          <p:cNvSpPr/>
          <p:nvPr/>
        </p:nvSpPr>
        <p:spPr>
          <a:xfrm>
            <a:off x="3051111" y="5020724"/>
            <a:ext cx="1198984" cy="751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5EB244C5-D972-89C5-770C-D960A84EF4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894" y="2342345"/>
            <a:ext cx="409375" cy="3744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E9AF7C89-6F72-B253-B81B-FD735FB45F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482" y="3307084"/>
            <a:ext cx="409375" cy="3744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B7C069BE-A102-D171-F4E1-CF8E2E74A1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817" y="4274062"/>
            <a:ext cx="409375" cy="37440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3C965CEE-6472-C08A-D04C-8827A40403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979" y="5205802"/>
            <a:ext cx="417247" cy="381600"/>
          </a:xfrm>
          <a:prstGeom prst="rect">
            <a:avLst/>
          </a:prstGeom>
        </p:spPr>
      </p:pic>
      <p:sp>
        <p:nvSpPr>
          <p:cNvPr id="37" name="箭头: 下弧形 36">
            <a:extLst>
              <a:ext uri="{FF2B5EF4-FFF2-40B4-BE49-F238E27FC236}">
                <a16:creationId xmlns:a16="http://schemas.microsoft.com/office/drawing/2014/main" id="{2D55D318-4FA2-58D8-4CFC-03F343042278}"/>
              </a:ext>
            </a:extLst>
          </p:cNvPr>
          <p:cNvSpPr/>
          <p:nvPr/>
        </p:nvSpPr>
        <p:spPr>
          <a:xfrm rot="14571113">
            <a:off x="1999543" y="2618970"/>
            <a:ext cx="3328365" cy="474676"/>
          </a:xfrm>
          <a:prstGeom prst="curvedUp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5B3A22F-3D6F-3084-E053-E96435D74AD0}"/>
              </a:ext>
            </a:extLst>
          </p:cNvPr>
          <p:cNvSpPr txBox="1"/>
          <p:nvPr/>
        </p:nvSpPr>
        <p:spPr>
          <a:xfrm>
            <a:off x="3401572" y="6070202"/>
            <a:ext cx="1282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……</a:t>
            </a:r>
            <a:endParaRPr lang="zh-CN" altLang="en-US" sz="2800" b="1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C6B2BCA-DEF6-953F-15F8-76CA4A8B5979}"/>
              </a:ext>
            </a:extLst>
          </p:cNvPr>
          <p:cNvSpPr txBox="1"/>
          <p:nvPr/>
        </p:nvSpPr>
        <p:spPr>
          <a:xfrm>
            <a:off x="5355771" y="1404897"/>
            <a:ext cx="608977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本测试主要考察记忆能力，包括三种类型的记忆。</a:t>
            </a:r>
            <a:endParaRPr lang="en-US" altLang="zh-CN" sz="2000" b="1" dirty="0"/>
          </a:p>
          <a:p>
            <a:r>
              <a:rPr lang="zh-CN" altLang="en-US" sz="2000" b="1" dirty="0"/>
              <a:t>如左图所示，这是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第三种类型</a:t>
            </a:r>
            <a:r>
              <a:rPr lang="zh-CN" altLang="en-US" sz="2000" b="1" dirty="0"/>
              <a:t>的测试。</a:t>
            </a:r>
            <a:endParaRPr lang="en-US" altLang="zh-CN" sz="2000" b="1" dirty="0"/>
          </a:p>
          <a:p>
            <a:endParaRPr lang="en-US" altLang="zh-CN" sz="2000" dirty="0"/>
          </a:p>
          <a:p>
            <a:r>
              <a:rPr lang="zh-CN" altLang="en-US" sz="2000" dirty="0"/>
              <a:t>测试开始时，屏幕中间会出现注视点“</a:t>
            </a:r>
            <a:r>
              <a:rPr lang="en-US" altLang="zh-CN" sz="2000" dirty="0"/>
              <a:t>+</a:t>
            </a:r>
            <a:r>
              <a:rPr lang="zh-CN" altLang="en-US" sz="2000" dirty="0"/>
              <a:t>”，这是提示您集中注意力。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之后会出现一系列的九宫格图片，从</a:t>
            </a:r>
            <a:r>
              <a:rPr lang="zh-CN" altLang="en-US" sz="2000" dirty="0">
                <a:solidFill>
                  <a:srgbClr val="FF0000"/>
                </a:solidFill>
              </a:rPr>
              <a:t>第四幅图片</a:t>
            </a:r>
            <a:r>
              <a:rPr lang="zh-CN" altLang="en-US" sz="2000" dirty="0"/>
              <a:t>出现时，您需要对</a:t>
            </a:r>
            <a:r>
              <a:rPr lang="zh-CN" altLang="en-US" sz="2000" u="sng" dirty="0"/>
              <a:t>后续所有图片</a:t>
            </a:r>
            <a:r>
              <a:rPr lang="zh-CN" altLang="en-US" sz="2000" dirty="0"/>
              <a:t>判断该图片中</a:t>
            </a: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</a:rPr>
              <a:t>橙色方块</a:t>
            </a:r>
            <a:r>
              <a:rPr lang="zh-CN" altLang="en-US" sz="2000" dirty="0"/>
              <a:t>位置与</a:t>
            </a:r>
            <a:r>
              <a:rPr lang="zh-CN" altLang="en-US" sz="2000" dirty="0">
                <a:solidFill>
                  <a:srgbClr val="FF0000"/>
                </a:solidFill>
              </a:rPr>
              <a:t>三幅前的图片</a:t>
            </a:r>
            <a:r>
              <a:rPr lang="zh-CN" altLang="en-US" sz="2000" dirty="0"/>
              <a:t>是否一致。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如果一致，请按左键</a:t>
            </a:r>
            <a:endParaRPr lang="en-US" altLang="zh-CN" sz="2000" dirty="0"/>
          </a:p>
          <a:p>
            <a:r>
              <a:rPr lang="zh-CN" altLang="en-US" sz="2000" dirty="0"/>
              <a:t>如果不一致，请按右键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按下</a:t>
            </a:r>
            <a:r>
              <a:rPr lang="zh-CN" altLang="en-US" sz="2000" b="1" dirty="0">
                <a:solidFill>
                  <a:srgbClr val="00B0F0"/>
                </a:solidFill>
              </a:rPr>
              <a:t>空格键正式</a:t>
            </a:r>
            <a:r>
              <a:rPr lang="zh-CN" altLang="en-US" sz="2000" dirty="0"/>
              <a:t>开始第三种类型测试</a:t>
            </a:r>
            <a:endParaRPr lang="en-US" altLang="zh-CN" sz="2000" dirty="0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9CD035EF-3248-21BB-D0D6-12D23EC9DD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9507" y="4387485"/>
            <a:ext cx="2737341" cy="1005927"/>
          </a:xfrm>
          <a:prstGeom prst="rect">
            <a:avLst/>
          </a:prstGeom>
        </p:spPr>
      </p:pic>
      <p:sp>
        <p:nvSpPr>
          <p:cNvPr id="48" name="椭圆 47">
            <a:extLst>
              <a:ext uri="{FF2B5EF4-FFF2-40B4-BE49-F238E27FC236}">
                <a16:creationId xmlns:a16="http://schemas.microsoft.com/office/drawing/2014/main" id="{F9955BC5-8CA7-B39A-D9FA-95C1F9F4CD50}"/>
              </a:ext>
            </a:extLst>
          </p:cNvPr>
          <p:cNvSpPr/>
          <p:nvPr/>
        </p:nvSpPr>
        <p:spPr>
          <a:xfrm>
            <a:off x="8994566" y="5005240"/>
            <a:ext cx="182546" cy="18659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1EF7AA8A-2AF5-62EF-881E-1119CB656A44}"/>
              </a:ext>
            </a:extLst>
          </p:cNvPr>
          <p:cNvSpPr/>
          <p:nvPr/>
        </p:nvSpPr>
        <p:spPr>
          <a:xfrm>
            <a:off x="11199637" y="5014307"/>
            <a:ext cx="182546" cy="18659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下弧形 1">
            <a:extLst>
              <a:ext uri="{FF2B5EF4-FFF2-40B4-BE49-F238E27FC236}">
                <a16:creationId xmlns:a16="http://schemas.microsoft.com/office/drawing/2014/main" id="{5D8FAF15-DB7E-A593-A3FB-0806DB038669}"/>
              </a:ext>
            </a:extLst>
          </p:cNvPr>
          <p:cNvSpPr/>
          <p:nvPr/>
        </p:nvSpPr>
        <p:spPr>
          <a:xfrm rot="14571113">
            <a:off x="2366450" y="3566939"/>
            <a:ext cx="3328365" cy="474676"/>
          </a:xfrm>
          <a:prstGeom prst="curvedUp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箭头: 下弧形 2">
            <a:extLst>
              <a:ext uri="{FF2B5EF4-FFF2-40B4-BE49-F238E27FC236}">
                <a16:creationId xmlns:a16="http://schemas.microsoft.com/office/drawing/2014/main" id="{1A977541-7D83-40C1-0873-2F993B89036A}"/>
              </a:ext>
            </a:extLst>
          </p:cNvPr>
          <p:cNvSpPr/>
          <p:nvPr/>
        </p:nvSpPr>
        <p:spPr>
          <a:xfrm rot="14571113">
            <a:off x="2716446" y="4450786"/>
            <a:ext cx="3328365" cy="474676"/>
          </a:xfrm>
          <a:prstGeom prst="curvedUp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089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658</Words>
  <Application>Microsoft Office PowerPoint</Application>
  <PresentationFormat>宽屏</PresentationFormat>
  <Paragraphs>96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BadHabits</dc:creator>
  <cp:lastModifiedBy>以昊 张</cp:lastModifiedBy>
  <cp:revision>21</cp:revision>
  <dcterms:created xsi:type="dcterms:W3CDTF">2024-02-20T13:48:13Z</dcterms:created>
  <dcterms:modified xsi:type="dcterms:W3CDTF">2024-04-07T13:28:18Z</dcterms:modified>
</cp:coreProperties>
</file>