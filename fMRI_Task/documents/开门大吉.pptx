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7" r:id="rId2"/>
    <p:sldId id="257" r:id="rId3"/>
    <p:sldId id="308" r:id="rId4"/>
    <p:sldId id="309" r:id="rId5"/>
    <p:sldId id="256" r:id="rId6"/>
    <p:sldId id="296" r:id="rId7"/>
    <p:sldId id="297" r:id="rId8"/>
    <p:sldId id="298" r:id="rId9"/>
    <p:sldId id="299" r:id="rId10"/>
    <p:sldId id="300" r:id="rId11"/>
    <p:sldId id="302" r:id="rId12"/>
    <p:sldId id="301" r:id="rId13"/>
    <p:sldId id="303" r:id="rId14"/>
    <p:sldId id="270" r:id="rId15"/>
    <p:sldId id="275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54" d="100"/>
          <a:sy n="54" d="100"/>
        </p:scale>
        <p:origin x="48" y="8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2" y="1407161"/>
            <a:ext cx="10515600" cy="3860165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欢迎来到</a:t>
            </a:r>
            <a:r>
              <a:rPr lang="en-US" altLang="zh-CN" b="1" dirty="0">
                <a:solidFill>
                  <a:schemeClr val="bg1"/>
                </a:solidFill>
              </a:rPr>
              <a:t>‘</a:t>
            </a:r>
            <a:r>
              <a:rPr lang="zh-CN" altLang="en-US" b="1" dirty="0">
                <a:solidFill>
                  <a:schemeClr val="bg1"/>
                </a:solidFill>
              </a:rPr>
              <a:t>开门大吉</a:t>
            </a:r>
            <a:r>
              <a:rPr lang="en-US" altLang="zh-CN" b="1" dirty="0">
                <a:solidFill>
                  <a:schemeClr val="bg1"/>
                </a:solidFill>
              </a:rPr>
              <a:t>’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开始前，会呈现一个注视点</a:t>
            </a:r>
            <a:r>
              <a:rPr lang="en-US" altLang="zh-CN" b="1" dirty="0">
                <a:solidFill>
                  <a:schemeClr val="bg1"/>
                </a:solidFill>
              </a:rPr>
              <a:t>“+”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随后，两扇紧闭的大门就会出现在你眼前！</a:t>
            </a:r>
          </a:p>
          <a:p>
            <a:pPr marL="0" indent="0" algn="ctr">
              <a:lnSpc>
                <a:spcPct val="150000"/>
              </a:lnSpc>
              <a:buNone/>
            </a:pP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（请按手柄任意键继续）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2" y="1407161"/>
            <a:ext cx="10515600" cy="3860165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这两扇门之中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会有一扇门后藏着闪闪发光、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超诱人的金币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而另一扇门后是一个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吞噬金币的黑洞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（请按手柄任意键继续）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2" y="1407161"/>
            <a:ext cx="10515600" cy="3860165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别犹豫，选择一扇门打开！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认为金币在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左侧门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后，请按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左手柄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上的任意键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认为金币在</a:t>
            </a:r>
            <a:r>
              <a:rPr lang="zh-CN" altLang="en-US" b="1" dirty="0">
                <a:solidFill>
                  <a:srgbClr val="FFFF00"/>
                </a:solidFill>
                <a:sym typeface="+mn-ea"/>
              </a:rPr>
              <a:t>右侧门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后，请按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sym typeface="+mn-ea"/>
              </a:rPr>
              <a:t>右手柄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上的任意键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（请按手柄任意键继续）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2" y="1407161"/>
            <a:ext cx="10515600" cy="3860165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猜测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正确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，当即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奖励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 10 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金币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猜测</a:t>
            </a:r>
            <a:r>
              <a:rPr lang="zh-CN" altLang="en-US" b="1" dirty="0">
                <a:solidFill>
                  <a:srgbClr val="FFFF00"/>
                </a:solidFill>
                <a:sym typeface="+mn-ea"/>
              </a:rPr>
              <a:t>错误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，则被</a:t>
            </a:r>
            <a:r>
              <a:rPr lang="zh-CN" altLang="en-US" b="1" dirty="0">
                <a:solidFill>
                  <a:srgbClr val="FFFF00"/>
                </a:solidFill>
                <a:sym typeface="+mn-ea"/>
              </a:rPr>
              <a:t>扣除</a:t>
            </a:r>
            <a:r>
              <a:rPr lang="en-US" altLang="zh-CN" b="1" dirty="0">
                <a:solidFill>
                  <a:srgbClr val="FFFF00"/>
                </a:solidFill>
                <a:sym typeface="+mn-ea"/>
              </a:rPr>
              <a:t> 10 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金币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您的初始金币为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100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现在，开始吧！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!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（请按手柄任意键继续）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59AC83E-8B4B-49B7-A37D-7A3FBED494B8}"/>
              </a:ext>
            </a:extLst>
          </p:cNvPr>
          <p:cNvGrpSpPr/>
          <p:nvPr/>
        </p:nvGrpSpPr>
        <p:grpSpPr>
          <a:xfrm>
            <a:off x="0" y="254636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064000" y="2748280"/>
              <a:ext cx="4064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</a:rPr>
                <a:t>请选择一扇门打开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E51E0BF-37D1-4F7C-ACA4-9CEA738E9F6A}"/>
              </a:ext>
            </a:extLst>
          </p:cNvPr>
          <p:cNvGrpSpPr/>
          <p:nvPr/>
        </p:nvGrpSpPr>
        <p:grpSpPr>
          <a:xfrm>
            <a:off x="0" y="254636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064000" y="2748280"/>
              <a:ext cx="4064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>
                  <a:solidFill>
                    <a:schemeClr val="bg1"/>
                  </a:solidFill>
                </a:rPr>
                <a:t>门正在打开</a:t>
              </a:r>
            </a:p>
            <a:p>
              <a:pPr algn="ctr"/>
              <a:r>
                <a:rPr lang="zh-CN" altLang="en-US" sz="2800" b="1">
                  <a:solidFill>
                    <a:schemeClr val="bg1"/>
                  </a:solidFill>
                </a:rPr>
                <a:t>请稍等</a:t>
              </a:r>
              <a:r>
                <a:rPr lang="en-US" altLang="zh-CN" sz="2800" b="1">
                  <a:solidFill>
                    <a:schemeClr val="bg1"/>
                  </a:solidFill>
                </a:rPr>
                <a:t>……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8034FD7-7A1B-43CB-809F-B452C169A8CE}"/>
              </a:ext>
            </a:extLst>
          </p:cNvPr>
          <p:cNvGrpSpPr/>
          <p:nvPr/>
        </p:nvGrpSpPr>
        <p:grpSpPr>
          <a:xfrm>
            <a:off x="0" y="254636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064000" y="2748280"/>
              <a:ext cx="4064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>
                  <a:solidFill>
                    <a:schemeClr val="bg1"/>
                  </a:solidFill>
                </a:rPr>
                <a:t>门正在打开</a:t>
              </a:r>
            </a:p>
            <a:p>
              <a:pPr algn="ctr"/>
              <a:r>
                <a:rPr lang="zh-CN" altLang="en-US" sz="2800" b="1">
                  <a:solidFill>
                    <a:schemeClr val="bg1"/>
                  </a:solidFill>
                </a:rPr>
                <a:t>请稍等</a:t>
              </a:r>
              <a:r>
                <a:rPr lang="en-US" altLang="zh-CN" sz="2800" b="1">
                  <a:solidFill>
                    <a:schemeClr val="bg1"/>
                  </a:solidFill>
                </a:rPr>
                <a:t>……</a:t>
              </a:r>
            </a:p>
          </p:txBody>
        </p:sp>
        <p:sp>
          <p:nvSpPr>
            <p:cNvPr id="2" name="矩形 1"/>
            <p:cNvSpPr/>
            <p:nvPr/>
          </p:nvSpPr>
          <p:spPr>
            <a:xfrm>
              <a:off x="8683625" y="813435"/>
              <a:ext cx="2349500" cy="4499610"/>
            </a:xfrm>
            <a:prstGeom prst="rect">
              <a:avLst/>
            </a:prstGeom>
            <a:ln w="1016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1B7A78A-4295-4A73-89BB-811D9CF87704}"/>
              </a:ext>
            </a:extLst>
          </p:cNvPr>
          <p:cNvGrpSpPr/>
          <p:nvPr/>
        </p:nvGrpSpPr>
        <p:grpSpPr>
          <a:xfrm>
            <a:off x="0" y="254636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064000" y="2748280"/>
              <a:ext cx="4064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>
                  <a:solidFill>
                    <a:schemeClr val="bg1"/>
                  </a:solidFill>
                </a:rPr>
                <a:t>门正在打开</a:t>
              </a:r>
            </a:p>
            <a:p>
              <a:pPr algn="ctr"/>
              <a:r>
                <a:rPr lang="zh-CN" altLang="en-US" sz="2800" b="1">
                  <a:solidFill>
                    <a:schemeClr val="bg1"/>
                  </a:solidFill>
                </a:rPr>
                <a:t>请稍等</a:t>
              </a:r>
              <a:r>
                <a:rPr lang="en-US" altLang="zh-CN" sz="2800" b="1">
                  <a:solidFill>
                    <a:schemeClr val="bg1"/>
                  </a:solidFill>
                </a:rPr>
                <a:t>……</a:t>
              </a:r>
            </a:p>
          </p:txBody>
        </p:sp>
        <p:sp>
          <p:nvSpPr>
            <p:cNvPr id="2" name="矩形 1"/>
            <p:cNvSpPr/>
            <p:nvPr/>
          </p:nvSpPr>
          <p:spPr>
            <a:xfrm>
              <a:off x="1802765" y="813435"/>
              <a:ext cx="2349500" cy="4499610"/>
            </a:xfrm>
            <a:prstGeom prst="rect">
              <a:avLst/>
            </a:prstGeom>
            <a:ln w="1016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1C0D16B-7CBE-44D5-991D-F4E6FE7AD560}"/>
              </a:ext>
            </a:extLst>
          </p:cNvPr>
          <p:cNvGrpSpPr/>
          <p:nvPr/>
        </p:nvGrpSpPr>
        <p:grpSpPr>
          <a:xfrm>
            <a:off x="0" y="254637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pic>
          <p:nvPicPr>
            <p:cNvPr id="3" name="图片 2" descr="千库网_金色货币金币财富商务贸易背景图21_背景编号6609747"/>
            <p:cNvPicPr>
              <a:picLocks noChangeAspect="1"/>
            </p:cNvPicPr>
            <p:nvPr/>
          </p:nvPicPr>
          <p:blipFill>
            <a:blip r:embed="rId3"/>
            <a:srcRect l="32837" r="39603" b="863"/>
            <a:stretch>
              <a:fillRect/>
            </a:stretch>
          </p:blipFill>
          <p:spPr>
            <a:xfrm>
              <a:off x="8954629" y="1209675"/>
              <a:ext cx="1811398" cy="3722370"/>
            </a:xfrm>
            <a:prstGeom prst="rect">
              <a:avLst/>
            </a:prstGeom>
            <a:effectLst>
              <a:softEdge rad="88900"/>
            </a:effectLst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7359650" y="935355"/>
              <a:ext cx="1748790" cy="4626610"/>
            </a:xfrm>
            <a:prstGeom prst="rect">
              <a:avLst/>
            </a:prstGeom>
            <a:scene3d>
              <a:camera prst="isometricRightUp">
                <a:rot lat="2100000" lon="19800000" rev="0"/>
              </a:camera>
              <a:lightRig rig="threePt" dir="t"/>
            </a:scene3d>
          </p:spPr>
        </p:pic>
        <p:sp>
          <p:nvSpPr>
            <p:cNvPr id="5" name="文本框 4"/>
            <p:cNvSpPr txBox="1"/>
            <p:nvPr/>
          </p:nvSpPr>
          <p:spPr>
            <a:xfrm>
              <a:off x="4636770" y="2542541"/>
              <a:ext cx="3128373" cy="669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</a:rPr>
                <a:t>恭喜您，猜测正确</a:t>
              </a:r>
            </a:p>
          </p:txBody>
        </p:sp>
        <p:grpSp>
          <p:nvGrpSpPr>
            <p:cNvPr id="14" name="组合 13"/>
            <p:cNvGrpSpPr>
              <a:grpSpLocks noChangeAspect="1"/>
            </p:cNvGrpSpPr>
            <p:nvPr/>
          </p:nvGrpSpPr>
          <p:grpSpPr>
            <a:xfrm>
              <a:off x="5087065" y="1856135"/>
              <a:ext cx="2017843" cy="789940"/>
              <a:chOff x="7399" y="4139"/>
              <a:chExt cx="4027" cy="1577"/>
            </a:xfrm>
            <a:noFill/>
          </p:grpSpPr>
          <p:pic>
            <p:nvPicPr>
              <p:cNvPr id="15" name="图片 14" descr="gold coin vector material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9" y="4139"/>
                <a:ext cx="1577" cy="1577"/>
              </a:xfrm>
              <a:prstGeom prst="rect">
                <a:avLst/>
              </a:prstGeom>
              <a:grpFill/>
            </p:spPr>
          </p:pic>
          <p:sp>
            <p:nvSpPr>
              <p:cNvPr id="16" name="文本框 15"/>
              <p:cNvSpPr txBox="1"/>
              <p:nvPr/>
            </p:nvSpPr>
            <p:spPr>
              <a:xfrm>
                <a:off x="8726" y="4344"/>
                <a:ext cx="2700" cy="116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+10</a:t>
                </a: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4731385" y="3404235"/>
              <a:ext cx="21907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sym typeface="+mn-ea"/>
                </a:rPr>
                <a:t>您的金币为：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AAB7D45-7BFE-4638-96A4-E207DEF0C65F}"/>
              </a:ext>
            </a:extLst>
          </p:cNvPr>
          <p:cNvGrpSpPr/>
          <p:nvPr/>
        </p:nvGrpSpPr>
        <p:grpSpPr>
          <a:xfrm>
            <a:off x="0" y="254636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pic>
          <p:nvPicPr>
            <p:cNvPr id="3" name="图片 2" descr="千库网_金色货币金币财富商务贸易背景图21_背景编号6609747"/>
            <p:cNvPicPr>
              <a:picLocks noChangeAspect="1"/>
            </p:cNvPicPr>
            <p:nvPr/>
          </p:nvPicPr>
          <p:blipFill>
            <a:blip r:embed="rId3"/>
            <a:srcRect l="32837" r="39603" b="863"/>
            <a:stretch>
              <a:fillRect/>
            </a:stretch>
          </p:blipFill>
          <p:spPr>
            <a:xfrm>
              <a:off x="2095359" y="1209675"/>
              <a:ext cx="1811398" cy="3722370"/>
            </a:xfrm>
            <a:prstGeom prst="rect">
              <a:avLst/>
            </a:prstGeom>
            <a:effectLst>
              <a:softEdge rad="88900"/>
            </a:effectLst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445135" y="935355"/>
              <a:ext cx="1748790" cy="4626610"/>
            </a:xfrm>
            <a:prstGeom prst="rect">
              <a:avLst/>
            </a:prstGeom>
            <a:scene3d>
              <a:camera prst="isometricRightUp">
                <a:rot lat="2100000" lon="19800000" rev="0"/>
              </a:camera>
              <a:lightRig rig="threePt" dir="t"/>
            </a:scene3d>
          </p:spPr>
        </p:pic>
        <p:sp>
          <p:nvSpPr>
            <p:cNvPr id="2" name="文本框 1"/>
            <p:cNvSpPr txBox="1"/>
            <p:nvPr/>
          </p:nvSpPr>
          <p:spPr>
            <a:xfrm>
              <a:off x="4636770" y="2542541"/>
              <a:ext cx="3253716" cy="1318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</a:rPr>
                <a:t>恭喜您，猜测正确</a:t>
              </a:r>
            </a:p>
            <a:p>
              <a:pPr>
                <a:lnSpc>
                  <a:spcPct val="150000"/>
                </a:lnSpc>
              </a:pP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4" name="组合 13"/>
            <p:cNvGrpSpPr>
              <a:grpSpLocks noChangeAspect="1"/>
            </p:cNvGrpSpPr>
            <p:nvPr/>
          </p:nvGrpSpPr>
          <p:grpSpPr>
            <a:xfrm>
              <a:off x="5087065" y="1856135"/>
              <a:ext cx="2017843" cy="789940"/>
              <a:chOff x="7399" y="4139"/>
              <a:chExt cx="4027" cy="1577"/>
            </a:xfrm>
            <a:noFill/>
          </p:grpSpPr>
          <p:pic>
            <p:nvPicPr>
              <p:cNvPr id="15" name="图片 14" descr="gold coin vector material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9" y="4139"/>
                <a:ext cx="1577" cy="1577"/>
              </a:xfrm>
              <a:prstGeom prst="rect">
                <a:avLst/>
              </a:prstGeom>
              <a:grpFill/>
            </p:spPr>
          </p:pic>
          <p:sp>
            <p:nvSpPr>
              <p:cNvPr id="16" name="文本框 15"/>
              <p:cNvSpPr txBox="1"/>
              <p:nvPr/>
            </p:nvSpPr>
            <p:spPr>
              <a:xfrm>
                <a:off x="8726" y="4344"/>
                <a:ext cx="2700" cy="116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+10</a:t>
                </a: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4731385" y="3404235"/>
              <a:ext cx="21907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bg1"/>
                  </a:solidFill>
                  <a:sym typeface="+mn-ea"/>
                </a:rPr>
                <a:t>您的金币为：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163D0D0-D682-4254-A26C-2FD9EAEE6E6D}"/>
              </a:ext>
            </a:extLst>
          </p:cNvPr>
          <p:cNvGrpSpPr/>
          <p:nvPr/>
        </p:nvGrpSpPr>
        <p:grpSpPr>
          <a:xfrm>
            <a:off x="0" y="254637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7358743" y="935355"/>
              <a:ext cx="1749697" cy="4626610"/>
            </a:xfrm>
            <a:prstGeom prst="rect">
              <a:avLst/>
            </a:prstGeom>
            <a:scene3d>
              <a:camera prst="isometricRightUp">
                <a:rot lat="2100000" lon="19800000" rev="0"/>
              </a:camera>
              <a:lightRig rig="threePt" dir="t"/>
            </a:scene3d>
          </p:spPr>
        </p:pic>
        <p:sp>
          <p:nvSpPr>
            <p:cNvPr id="2" name="文本框 1"/>
            <p:cNvSpPr txBox="1"/>
            <p:nvPr/>
          </p:nvSpPr>
          <p:spPr>
            <a:xfrm>
              <a:off x="4389120" y="2542541"/>
              <a:ext cx="3413760" cy="669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sym typeface="+mn-ea"/>
                </a:rPr>
                <a:t>很遗憾，没有猜对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  <p:grpSp>
          <p:nvGrpSpPr>
            <p:cNvPr id="8" name="组合 7"/>
            <p:cNvGrpSpPr>
              <a:grpSpLocks noChangeAspect="1"/>
            </p:cNvGrpSpPr>
            <p:nvPr/>
          </p:nvGrpSpPr>
          <p:grpSpPr>
            <a:xfrm>
              <a:off x="5087065" y="1856135"/>
              <a:ext cx="2017843" cy="789940"/>
              <a:chOff x="7399" y="4139"/>
              <a:chExt cx="4027" cy="1577"/>
            </a:xfrm>
            <a:noFill/>
          </p:grpSpPr>
          <p:pic>
            <p:nvPicPr>
              <p:cNvPr id="9" name="图片 8" descr="gold coin vector material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9" y="4139"/>
                <a:ext cx="1577" cy="1577"/>
              </a:xfrm>
              <a:prstGeom prst="rect">
                <a:avLst/>
              </a:prstGeom>
              <a:grpFill/>
            </p:spPr>
          </p:pic>
          <p:sp>
            <p:nvSpPr>
              <p:cNvPr id="10" name="文本框 9"/>
              <p:cNvSpPr txBox="1"/>
              <p:nvPr/>
            </p:nvSpPr>
            <p:spPr>
              <a:xfrm>
                <a:off x="8726" y="4344"/>
                <a:ext cx="2700" cy="116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-10</a:t>
                </a:r>
              </a:p>
            </p:txBody>
          </p:sp>
        </p:grpSp>
        <p:pic>
          <p:nvPicPr>
            <p:cNvPr id="11" name="图片 10" descr="7b0a202020202266696c746572223a202238220a7d0a"/>
            <p:cNvPicPr/>
            <p:nvPr>
              <p:custDataLst>
                <p:tags r:id="rId1"/>
              </p:custDataLst>
            </p:nvPr>
          </p:nvPicPr>
          <p:blipFill>
            <a:blip r:embed="rId6"/>
            <a:srcRect l="31802" t="-8" r="39631" b="3261"/>
            <a:stretch>
              <a:fillRect/>
            </a:stretch>
          </p:blipFill>
          <p:spPr>
            <a:xfrm>
              <a:off x="8956675" y="1174115"/>
              <a:ext cx="1898650" cy="3750310"/>
            </a:xfrm>
            <a:prstGeom prst="rect">
              <a:avLst/>
            </a:prstGeom>
            <a:effectLst>
              <a:outerShdw blurRad="241300" dir="10200000" sx="101000" sy="101000" rotWithShape="0">
                <a:prstClr val="black">
                  <a:alpha val="100000"/>
                </a:prstClr>
              </a:outerShdw>
              <a:reflection endA="300" endPos="1000" dir="5400000" sy="-100000" algn="bl" rotWithShape="0"/>
              <a:softEdge rad="88900"/>
            </a:effectLst>
          </p:spPr>
        </p:pic>
        <p:sp>
          <p:nvSpPr>
            <p:cNvPr id="12" name="文本框 11"/>
            <p:cNvSpPr txBox="1"/>
            <p:nvPr/>
          </p:nvSpPr>
          <p:spPr>
            <a:xfrm>
              <a:off x="4731385" y="3404235"/>
              <a:ext cx="21907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bg1"/>
                  </a:solidFill>
                  <a:sym typeface="+mn-ea"/>
                </a:rPr>
                <a:t>您的金币为：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813823C-E797-4B9D-A430-EB8D648C6012}"/>
              </a:ext>
            </a:extLst>
          </p:cNvPr>
          <p:cNvGrpSpPr/>
          <p:nvPr/>
        </p:nvGrpSpPr>
        <p:grpSpPr>
          <a:xfrm>
            <a:off x="0" y="254637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445135" y="935355"/>
              <a:ext cx="1748790" cy="4626610"/>
            </a:xfrm>
            <a:prstGeom prst="rect">
              <a:avLst/>
            </a:prstGeom>
            <a:scene3d>
              <a:camera prst="isometricRightUp">
                <a:rot lat="2100000" lon="19800000" rev="0"/>
              </a:camera>
              <a:lightRig rig="threePt" dir="t"/>
            </a:scene3d>
          </p:spPr>
        </p:pic>
        <p:sp>
          <p:nvSpPr>
            <p:cNvPr id="2" name="文本框 1"/>
            <p:cNvSpPr txBox="1"/>
            <p:nvPr/>
          </p:nvSpPr>
          <p:spPr>
            <a:xfrm>
              <a:off x="4389120" y="2542541"/>
              <a:ext cx="3413760" cy="669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sym typeface="+mn-ea"/>
                </a:rPr>
                <a:t>很遗憾，没有猜对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4" name="组合 13"/>
            <p:cNvGrpSpPr>
              <a:grpSpLocks noChangeAspect="1"/>
            </p:cNvGrpSpPr>
            <p:nvPr/>
          </p:nvGrpSpPr>
          <p:grpSpPr>
            <a:xfrm>
              <a:off x="5087065" y="1856135"/>
              <a:ext cx="2017843" cy="789940"/>
              <a:chOff x="7399" y="4139"/>
              <a:chExt cx="4027" cy="1577"/>
            </a:xfrm>
            <a:noFill/>
          </p:grpSpPr>
          <p:pic>
            <p:nvPicPr>
              <p:cNvPr id="15" name="图片 14" descr="gold coin vector material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9" y="4139"/>
                <a:ext cx="1577" cy="1577"/>
              </a:xfrm>
              <a:prstGeom prst="rect">
                <a:avLst/>
              </a:prstGeom>
              <a:grpFill/>
            </p:spPr>
          </p:pic>
          <p:sp>
            <p:nvSpPr>
              <p:cNvPr id="16" name="文本框 15"/>
              <p:cNvSpPr txBox="1"/>
              <p:nvPr/>
            </p:nvSpPr>
            <p:spPr>
              <a:xfrm>
                <a:off x="8726" y="4344"/>
                <a:ext cx="2700" cy="116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-10</a:t>
                </a:r>
              </a:p>
            </p:txBody>
          </p:sp>
        </p:grpSp>
        <p:pic>
          <p:nvPicPr>
            <p:cNvPr id="9" name="图片 8" descr="7b0a202020202266696c746572223a202238220a7d0a"/>
            <p:cNvPicPr/>
            <p:nvPr>
              <p:custDataLst>
                <p:tags r:id="rId1"/>
              </p:custDataLst>
            </p:nvPr>
          </p:nvPicPr>
          <p:blipFill>
            <a:blip r:embed="rId6"/>
            <a:srcRect l="31802" t="-8" r="39631" b="3261"/>
            <a:stretch>
              <a:fillRect/>
            </a:stretch>
          </p:blipFill>
          <p:spPr>
            <a:xfrm>
              <a:off x="2090420" y="1174115"/>
              <a:ext cx="1898650" cy="3750310"/>
            </a:xfrm>
            <a:prstGeom prst="rect">
              <a:avLst/>
            </a:prstGeom>
            <a:effectLst>
              <a:outerShdw blurRad="241300" dir="10200000" sx="101000" sy="101000" rotWithShape="0">
                <a:prstClr val="black">
                  <a:alpha val="100000"/>
                </a:prstClr>
              </a:outerShdw>
              <a:reflection endA="300" endPos="1000" dir="5400000" sy="-100000" algn="bl" rotWithShape="0"/>
              <a:softEdge rad="88900"/>
            </a:effectLst>
          </p:spPr>
        </p:pic>
        <p:sp>
          <p:nvSpPr>
            <p:cNvPr id="8" name="文本框 7"/>
            <p:cNvSpPr txBox="1"/>
            <p:nvPr/>
          </p:nvSpPr>
          <p:spPr>
            <a:xfrm>
              <a:off x="4731385" y="3404235"/>
              <a:ext cx="21907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bg1"/>
                  </a:solidFill>
                  <a:sym typeface="+mn-ea"/>
                </a:rPr>
                <a:t>您的金币为：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F30864F-8651-4EB1-BFE3-39255EF0A258}"/>
              </a:ext>
            </a:extLst>
          </p:cNvPr>
          <p:cNvGrpSpPr/>
          <p:nvPr/>
        </p:nvGrpSpPr>
        <p:grpSpPr>
          <a:xfrm>
            <a:off x="0" y="254636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141470" y="2045336"/>
              <a:ext cx="3909060" cy="131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sym typeface="+mn-ea"/>
                </a:rPr>
                <a:t>您并没有打开门</a:t>
              </a:r>
              <a:r>
                <a:rPr lang="en-US" altLang="zh-CN" sz="2800" b="1" dirty="0">
                  <a:solidFill>
                    <a:schemeClr val="bg1"/>
                  </a:solidFill>
                  <a:sym typeface="+mn-ea"/>
                </a:rPr>
                <a:t>……</a:t>
              </a:r>
            </a:p>
            <a:p>
              <a:pPr algn="ctr"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sym typeface="+mn-ea"/>
                </a:rPr>
                <a:t>下次请记得做出选择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4731385" y="3404235"/>
              <a:ext cx="21907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bg1"/>
                  </a:solidFill>
                  <a:sym typeface="+mn-ea"/>
                </a:rPr>
                <a:t>您的金币为：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0813" y="2262089"/>
            <a:ext cx="8370377" cy="184883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请继续积极配合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注意，保持头部不要动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6172" y="1981202"/>
            <a:ext cx="10515600" cy="379843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此评估结束！感谢您的参与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请</a:t>
            </a:r>
            <a:r>
              <a: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积极配合后续评估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（请继续保持头部不动）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59AC83E-8B4B-49B7-A37D-7A3FBED494B8}"/>
              </a:ext>
            </a:extLst>
          </p:cNvPr>
          <p:cNvGrpSpPr/>
          <p:nvPr/>
        </p:nvGrpSpPr>
        <p:grpSpPr>
          <a:xfrm>
            <a:off x="0" y="254636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064000" y="2748280"/>
              <a:ext cx="47071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</a:rPr>
                <a:t>Please select a door to open.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2747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E51E0BF-37D1-4F7C-ACA4-9CEA738E9F6A}"/>
              </a:ext>
            </a:extLst>
          </p:cNvPr>
          <p:cNvGrpSpPr/>
          <p:nvPr/>
        </p:nvGrpSpPr>
        <p:grpSpPr>
          <a:xfrm>
            <a:off x="0" y="254636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064000" y="2748280"/>
              <a:ext cx="4064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</a:rPr>
                <a:t>The door is opening.  </a:t>
              </a:r>
            </a:p>
            <a:p>
              <a:pPr algn="ctr"/>
              <a:r>
                <a:rPr lang="en-US" altLang="zh-CN" sz="2800" b="1" dirty="0">
                  <a:solidFill>
                    <a:schemeClr val="bg1"/>
                  </a:solidFill>
                </a:rPr>
                <a:t>Please wait...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5300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8034FD7-7A1B-43CB-809F-B452C169A8CE}"/>
              </a:ext>
            </a:extLst>
          </p:cNvPr>
          <p:cNvGrpSpPr/>
          <p:nvPr/>
        </p:nvGrpSpPr>
        <p:grpSpPr>
          <a:xfrm>
            <a:off x="0" y="254636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064000" y="2748280"/>
              <a:ext cx="4064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</a:rPr>
                <a:t>The door is opening.  </a:t>
              </a:r>
            </a:p>
            <a:p>
              <a:pPr algn="ctr"/>
              <a:r>
                <a:rPr lang="en-US" altLang="zh-CN" sz="2800" b="1" dirty="0">
                  <a:solidFill>
                    <a:schemeClr val="bg1"/>
                  </a:solidFill>
                </a:rPr>
                <a:t>Please wait...</a:t>
              </a:r>
            </a:p>
          </p:txBody>
        </p:sp>
        <p:sp>
          <p:nvSpPr>
            <p:cNvPr id="2" name="矩形 1"/>
            <p:cNvSpPr/>
            <p:nvPr/>
          </p:nvSpPr>
          <p:spPr>
            <a:xfrm>
              <a:off x="8683625" y="813435"/>
              <a:ext cx="2349500" cy="4499610"/>
            </a:xfrm>
            <a:prstGeom prst="rect">
              <a:avLst/>
            </a:prstGeom>
            <a:ln w="1016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</p:grpSp>
    </p:spTree>
    <p:extLst>
      <p:ext uri="{BB962C8B-B14F-4D97-AF65-F5344CB8AC3E}">
        <p14:creationId xmlns:p14="http://schemas.microsoft.com/office/powerpoint/2010/main" val="968801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1B7A78A-4295-4A73-89BB-811D9CF87704}"/>
              </a:ext>
            </a:extLst>
          </p:cNvPr>
          <p:cNvGrpSpPr/>
          <p:nvPr/>
        </p:nvGrpSpPr>
        <p:grpSpPr>
          <a:xfrm>
            <a:off x="0" y="254636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064000" y="2748280"/>
              <a:ext cx="4064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</a:rPr>
                <a:t>The door is opening.  </a:t>
              </a:r>
            </a:p>
            <a:p>
              <a:pPr algn="ctr"/>
              <a:r>
                <a:rPr lang="en-US" altLang="zh-CN" sz="2800" b="1" dirty="0">
                  <a:solidFill>
                    <a:schemeClr val="bg1"/>
                  </a:solidFill>
                </a:rPr>
                <a:t>Please wait...</a:t>
              </a:r>
            </a:p>
          </p:txBody>
        </p:sp>
        <p:sp>
          <p:nvSpPr>
            <p:cNvPr id="2" name="矩形 1"/>
            <p:cNvSpPr/>
            <p:nvPr/>
          </p:nvSpPr>
          <p:spPr>
            <a:xfrm>
              <a:off x="1802765" y="813435"/>
              <a:ext cx="2349500" cy="4499610"/>
            </a:xfrm>
            <a:prstGeom prst="rect">
              <a:avLst/>
            </a:prstGeom>
            <a:ln w="1016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801"/>
            </a:p>
          </p:txBody>
        </p:sp>
      </p:grpSp>
    </p:spTree>
    <p:extLst>
      <p:ext uri="{BB962C8B-B14F-4D97-AF65-F5344CB8AC3E}">
        <p14:creationId xmlns:p14="http://schemas.microsoft.com/office/powerpoint/2010/main" val="2833907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1C0D16B-7CBE-44D5-991D-F4E6FE7AD560}"/>
              </a:ext>
            </a:extLst>
          </p:cNvPr>
          <p:cNvGrpSpPr/>
          <p:nvPr/>
        </p:nvGrpSpPr>
        <p:grpSpPr>
          <a:xfrm>
            <a:off x="0" y="254637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pic>
          <p:nvPicPr>
            <p:cNvPr id="3" name="图片 2" descr="千库网_金色货币金币财富商务贸易背景图21_背景编号6609747"/>
            <p:cNvPicPr>
              <a:picLocks noChangeAspect="1"/>
            </p:cNvPicPr>
            <p:nvPr/>
          </p:nvPicPr>
          <p:blipFill>
            <a:blip r:embed="rId3"/>
            <a:srcRect l="32837" r="39603" b="863"/>
            <a:stretch>
              <a:fillRect/>
            </a:stretch>
          </p:blipFill>
          <p:spPr>
            <a:xfrm>
              <a:off x="8954629" y="1209675"/>
              <a:ext cx="1811398" cy="3722370"/>
            </a:xfrm>
            <a:prstGeom prst="rect">
              <a:avLst/>
            </a:prstGeom>
            <a:effectLst>
              <a:softEdge rad="88900"/>
            </a:effectLst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7359650" y="935355"/>
              <a:ext cx="1748790" cy="4626610"/>
            </a:xfrm>
            <a:prstGeom prst="rect">
              <a:avLst/>
            </a:prstGeom>
            <a:scene3d>
              <a:camera prst="isometricRightUp">
                <a:rot lat="2100000" lon="19800000" rev="0"/>
              </a:camera>
              <a:lightRig rig="threePt" dir="t"/>
            </a:scene3d>
          </p:spPr>
        </p:pic>
        <p:sp>
          <p:nvSpPr>
            <p:cNvPr id="5" name="文本框 4"/>
            <p:cNvSpPr txBox="1"/>
            <p:nvPr/>
          </p:nvSpPr>
          <p:spPr>
            <a:xfrm>
              <a:off x="4636770" y="2542541"/>
              <a:ext cx="6966347" cy="1318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Congratulations!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Your guess is correct.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4" name="组合 13"/>
            <p:cNvGrpSpPr>
              <a:grpSpLocks noChangeAspect="1"/>
            </p:cNvGrpSpPr>
            <p:nvPr/>
          </p:nvGrpSpPr>
          <p:grpSpPr>
            <a:xfrm>
              <a:off x="5087065" y="1856135"/>
              <a:ext cx="2017843" cy="789940"/>
              <a:chOff x="7399" y="4139"/>
              <a:chExt cx="4027" cy="1577"/>
            </a:xfrm>
            <a:noFill/>
          </p:grpSpPr>
          <p:pic>
            <p:nvPicPr>
              <p:cNvPr id="15" name="图片 14" descr="gold coin vector material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9" y="4139"/>
                <a:ext cx="1577" cy="1577"/>
              </a:xfrm>
              <a:prstGeom prst="rect">
                <a:avLst/>
              </a:prstGeom>
              <a:grpFill/>
            </p:spPr>
          </p:pic>
          <p:sp>
            <p:nvSpPr>
              <p:cNvPr id="16" name="文本框 15"/>
              <p:cNvSpPr txBox="1"/>
              <p:nvPr/>
            </p:nvSpPr>
            <p:spPr>
              <a:xfrm>
                <a:off x="8726" y="4344"/>
                <a:ext cx="2700" cy="116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+10</a:t>
                </a: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4604649" y="4025156"/>
              <a:ext cx="46636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sym typeface="+mn-ea"/>
                </a:rPr>
                <a:t>You have </a:t>
              </a:r>
              <a:r>
                <a:rPr lang="en-US" altLang="zh-CN" sz="2800" b="1" u="sng" dirty="0">
                  <a:solidFill>
                    <a:schemeClr val="bg1"/>
                  </a:solidFill>
                  <a:sym typeface="+mn-ea"/>
                </a:rPr>
                <a:t>       </a:t>
              </a:r>
              <a:r>
                <a:rPr lang="en-US" altLang="zh-CN" sz="2800" b="1" dirty="0">
                  <a:solidFill>
                    <a:schemeClr val="bg1"/>
                  </a:solidFill>
                  <a:sym typeface="+mn-ea"/>
                </a:rPr>
                <a:t> coins. </a:t>
              </a:r>
              <a:endParaRPr lang="zh-CN" altLang="en-US" sz="2800" b="1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2380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AAB7D45-7BFE-4638-96A4-E207DEF0C65F}"/>
              </a:ext>
            </a:extLst>
          </p:cNvPr>
          <p:cNvGrpSpPr/>
          <p:nvPr/>
        </p:nvGrpSpPr>
        <p:grpSpPr>
          <a:xfrm>
            <a:off x="0" y="254636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pic>
          <p:nvPicPr>
            <p:cNvPr id="3" name="图片 2" descr="千库网_金色货币金币财富商务贸易背景图21_背景编号6609747"/>
            <p:cNvPicPr>
              <a:picLocks noChangeAspect="1"/>
            </p:cNvPicPr>
            <p:nvPr/>
          </p:nvPicPr>
          <p:blipFill>
            <a:blip r:embed="rId3"/>
            <a:srcRect l="32837" r="39603" b="863"/>
            <a:stretch>
              <a:fillRect/>
            </a:stretch>
          </p:blipFill>
          <p:spPr>
            <a:xfrm>
              <a:off x="2095359" y="1209675"/>
              <a:ext cx="1811398" cy="3722370"/>
            </a:xfrm>
            <a:prstGeom prst="rect">
              <a:avLst/>
            </a:prstGeom>
            <a:effectLst>
              <a:softEdge rad="88900"/>
            </a:effectLst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445135" y="935355"/>
              <a:ext cx="1748790" cy="4626610"/>
            </a:xfrm>
            <a:prstGeom prst="rect">
              <a:avLst/>
            </a:prstGeom>
            <a:scene3d>
              <a:camera prst="isometricRightUp">
                <a:rot lat="2100000" lon="19800000" rev="0"/>
              </a:camera>
              <a:lightRig rig="threePt" dir="t"/>
            </a:scene3d>
          </p:spPr>
        </p:pic>
        <p:grpSp>
          <p:nvGrpSpPr>
            <p:cNvPr id="14" name="组合 13"/>
            <p:cNvGrpSpPr>
              <a:grpSpLocks noChangeAspect="1"/>
            </p:cNvGrpSpPr>
            <p:nvPr/>
          </p:nvGrpSpPr>
          <p:grpSpPr>
            <a:xfrm>
              <a:off x="5087065" y="1856135"/>
              <a:ext cx="2017843" cy="789940"/>
              <a:chOff x="7399" y="4139"/>
              <a:chExt cx="4027" cy="1577"/>
            </a:xfrm>
            <a:noFill/>
          </p:grpSpPr>
          <p:pic>
            <p:nvPicPr>
              <p:cNvPr id="15" name="图片 14" descr="gold coin vector material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9" y="4139"/>
                <a:ext cx="1577" cy="1577"/>
              </a:xfrm>
              <a:prstGeom prst="rect">
                <a:avLst/>
              </a:prstGeom>
              <a:grpFill/>
            </p:spPr>
          </p:pic>
          <p:sp>
            <p:nvSpPr>
              <p:cNvPr id="16" name="文本框 15"/>
              <p:cNvSpPr txBox="1"/>
              <p:nvPr/>
            </p:nvSpPr>
            <p:spPr>
              <a:xfrm>
                <a:off x="8726" y="4344"/>
                <a:ext cx="2700" cy="116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+10</a:t>
                </a:r>
              </a:p>
            </p:txBody>
          </p:sp>
        </p:grp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515A2F36-C8D8-120D-9F1F-293D192A765A}"/>
              </a:ext>
            </a:extLst>
          </p:cNvPr>
          <p:cNvSpPr txBox="1"/>
          <p:nvPr/>
        </p:nvSpPr>
        <p:spPr>
          <a:xfrm>
            <a:off x="4636768" y="2542542"/>
            <a:ext cx="6966347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</a:rPr>
              <a:t>Congratulations!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</a:rPr>
              <a:t>Your guess is correct.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EE6103-BE1F-6097-B295-F0A16586A10E}"/>
              </a:ext>
            </a:extLst>
          </p:cNvPr>
          <p:cNvSpPr txBox="1"/>
          <p:nvPr/>
        </p:nvSpPr>
        <p:spPr>
          <a:xfrm>
            <a:off x="4604649" y="4025157"/>
            <a:ext cx="4663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You have </a:t>
            </a:r>
            <a:r>
              <a:rPr lang="en-US" altLang="zh-CN" sz="2800" b="1" u="sng" dirty="0">
                <a:solidFill>
                  <a:schemeClr val="bg1"/>
                </a:solidFill>
                <a:sym typeface="+mn-ea"/>
              </a:rPr>
              <a:t>       </a:t>
            </a:r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 coins. </a:t>
            </a:r>
            <a:endParaRPr lang="zh-CN" altLang="en-US" sz="2800" b="1" dirty="0">
              <a:solidFill>
                <a:schemeClr val="bg1"/>
              </a:solidFill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6580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163D0D0-D682-4254-A26C-2FD9EAEE6E6D}"/>
              </a:ext>
            </a:extLst>
          </p:cNvPr>
          <p:cNvGrpSpPr/>
          <p:nvPr/>
        </p:nvGrpSpPr>
        <p:grpSpPr>
          <a:xfrm>
            <a:off x="0" y="254636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7358743" y="935355"/>
              <a:ext cx="1749697" cy="4626610"/>
            </a:xfrm>
            <a:prstGeom prst="rect">
              <a:avLst/>
            </a:prstGeom>
            <a:scene3d>
              <a:camera prst="isometricRightUp">
                <a:rot lat="2100000" lon="19800000" rev="0"/>
              </a:camera>
              <a:lightRig rig="threePt" dir="t"/>
            </a:scene3d>
          </p:spPr>
        </p:pic>
        <p:sp>
          <p:nvSpPr>
            <p:cNvPr id="2" name="文本框 1"/>
            <p:cNvSpPr txBox="1"/>
            <p:nvPr/>
          </p:nvSpPr>
          <p:spPr>
            <a:xfrm>
              <a:off x="4389118" y="2542541"/>
              <a:ext cx="4567556" cy="1318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  <a:sym typeface="+mn-ea"/>
                </a:rPr>
                <a:t>Unfortunately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  <a:sym typeface="+mn-ea"/>
                </a:rPr>
                <a:t>Your guess is incorrect.</a:t>
              </a:r>
              <a:endParaRPr lang="zh-CN" altLang="en-US" sz="2800" b="1" dirty="0">
                <a:solidFill>
                  <a:schemeClr val="bg1"/>
                </a:solidFill>
                <a:sym typeface="+mn-ea"/>
              </a:endParaRPr>
            </a:p>
          </p:txBody>
        </p:sp>
        <p:grpSp>
          <p:nvGrpSpPr>
            <p:cNvPr id="8" name="组合 7"/>
            <p:cNvGrpSpPr>
              <a:grpSpLocks noChangeAspect="1"/>
            </p:cNvGrpSpPr>
            <p:nvPr/>
          </p:nvGrpSpPr>
          <p:grpSpPr>
            <a:xfrm>
              <a:off x="5087065" y="1856135"/>
              <a:ext cx="2017843" cy="789940"/>
              <a:chOff x="7399" y="4139"/>
              <a:chExt cx="4027" cy="1577"/>
            </a:xfrm>
            <a:noFill/>
          </p:grpSpPr>
          <p:pic>
            <p:nvPicPr>
              <p:cNvPr id="9" name="图片 8" descr="gold coin vector material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9" y="4139"/>
                <a:ext cx="1577" cy="1577"/>
              </a:xfrm>
              <a:prstGeom prst="rect">
                <a:avLst/>
              </a:prstGeom>
              <a:grpFill/>
            </p:spPr>
          </p:pic>
          <p:sp>
            <p:nvSpPr>
              <p:cNvPr id="10" name="文本框 9"/>
              <p:cNvSpPr txBox="1"/>
              <p:nvPr/>
            </p:nvSpPr>
            <p:spPr>
              <a:xfrm>
                <a:off x="8726" y="4344"/>
                <a:ext cx="2700" cy="116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-10</a:t>
                </a:r>
              </a:p>
            </p:txBody>
          </p:sp>
        </p:grpSp>
        <p:pic>
          <p:nvPicPr>
            <p:cNvPr id="11" name="图片 10" descr="7b0a202020202266696c746572223a202238220a7d0a"/>
            <p:cNvPicPr/>
            <p:nvPr>
              <p:custDataLst>
                <p:tags r:id="rId1"/>
              </p:custDataLst>
            </p:nvPr>
          </p:nvPicPr>
          <p:blipFill>
            <a:blip r:embed="rId6"/>
            <a:srcRect l="31802" t="-8" r="39631" b="3261"/>
            <a:stretch>
              <a:fillRect/>
            </a:stretch>
          </p:blipFill>
          <p:spPr>
            <a:xfrm>
              <a:off x="8956675" y="1174115"/>
              <a:ext cx="1898650" cy="3750310"/>
            </a:xfrm>
            <a:prstGeom prst="rect">
              <a:avLst/>
            </a:prstGeom>
            <a:effectLst>
              <a:outerShdw blurRad="241300" dir="10200000" sx="101000" sy="101000" rotWithShape="0">
                <a:prstClr val="black">
                  <a:alpha val="100000"/>
                </a:prstClr>
              </a:outerShdw>
              <a:reflection endA="300" endPos="1000" dir="5400000" sy="-100000" algn="bl" rotWithShape="0"/>
              <a:softEdge rad="88900"/>
            </a:effectLst>
          </p:spPr>
        </p:pic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2B3D6107-EE5A-4E4D-EC61-70DE1B4BFDE9}"/>
              </a:ext>
            </a:extLst>
          </p:cNvPr>
          <p:cNvSpPr txBox="1"/>
          <p:nvPr/>
        </p:nvSpPr>
        <p:spPr>
          <a:xfrm>
            <a:off x="4389120" y="4014501"/>
            <a:ext cx="4663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You have </a:t>
            </a:r>
            <a:r>
              <a:rPr lang="en-US" altLang="zh-CN" sz="2800" b="1" u="sng" dirty="0">
                <a:solidFill>
                  <a:schemeClr val="bg1"/>
                </a:solidFill>
                <a:sym typeface="+mn-ea"/>
              </a:rPr>
              <a:t>       </a:t>
            </a:r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 coins. </a:t>
            </a:r>
            <a:endParaRPr lang="zh-CN" altLang="en-US" sz="2800" b="1" dirty="0">
              <a:solidFill>
                <a:schemeClr val="bg1"/>
              </a:solidFill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5039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813823C-E797-4B9D-A430-EB8D648C6012}"/>
              </a:ext>
            </a:extLst>
          </p:cNvPr>
          <p:cNvGrpSpPr/>
          <p:nvPr/>
        </p:nvGrpSpPr>
        <p:grpSpPr>
          <a:xfrm>
            <a:off x="0" y="254636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445135" y="935355"/>
              <a:ext cx="1748790" cy="4626610"/>
            </a:xfrm>
            <a:prstGeom prst="rect">
              <a:avLst/>
            </a:prstGeom>
            <a:scene3d>
              <a:camera prst="isometricRightUp">
                <a:rot lat="2100000" lon="19800000" rev="0"/>
              </a:camera>
              <a:lightRig rig="threePt" dir="t"/>
            </a:scene3d>
          </p:spPr>
        </p:pic>
        <p:grpSp>
          <p:nvGrpSpPr>
            <p:cNvPr id="14" name="组合 13"/>
            <p:cNvGrpSpPr>
              <a:grpSpLocks noChangeAspect="1"/>
            </p:cNvGrpSpPr>
            <p:nvPr/>
          </p:nvGrpSpPr>
          <p:grpSpPr>
            <a:xfrm>
              <a:off x="5087065" y="1856135"/>
              <a:ext cx="2017843" cy="789940"/>
              <a:chOff x="7399" y="4139"/>
              <a:chExt cx="4027" cy="1577"/>
            </a:xfrm>
            <a:noFill/>
          </p:grpSpPr>
          <p:pic>
            <p:nvPicPr>
              <p:cNvPr id="15" name="图片 14" descr="gold coin vector material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9" y="4139"/>
                <a:ext cx="1577" cy="1577"/>
              </a:xfrm>
              <a:prstGeom prst="rect">
                <a:avLst/>
              </a:prstGeom>
              <a:grpFill/>
            </p:spPr>
          </p:pic>
          <p:sp>
            <p:nvSpPr>
              <p:cNvPr id="16" name="文本框 15"/>
              <p:cNvSpPr txBox="1"/>
              <p:nvPr/>
            </p:nvSpPr>
            <p:spPr>
              <a:xfrm>
                <a:off x="8726" y="4344"/>
                <a:ext cx="2700" cy="116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-10</a:t>
                </a:r>
              </a:p>
            </p:txBody>
          </p:sp>
        </p:grpSp>
        <p:pic>
          <p:nvPicPr>
            <p:cNvPr id="9" name="图片 8" descr="7b0a202020202266696c746572223a202238220a7d0a"/>
            <p:cNvPicPr/>
            <p:nvPr>
              <p:custDataLst>
                <p:tags r:id="rId1"/>
              </p:custDataLst>
            </p:nvPr>
          </p:nvPicPr>
          <p:blipFill>
            <a:blip r:embed="rId6"/>
            <a:srcRect l="31802" t="-8" r="39631" b="3261"/>
            <a:stretch>
              <a:fillRect/>
            </a:stretch>
          </p:blipFill>
          <p:spPr>
            <a:xfrm>
              <a:off x="2090420" y="1174115"/>
              <a:ext cx="1898650" cy="3750310"/>
            </a:xfrm>
            <a:prstGeom prst="rect">
              <a:avLst/>
            </a:prstGeom>
            <a:effectLst>
              <a:outerShdw blurRad="241300" dir="10200000" sx="101000" sy="101000" rotWithShape="0">
                <a:prstClr val="black">
                  <a:alpha val="100000"/>
                </a:prstClr>
              </a:outerShdw>
              <a:reflection endA="300" endPos="1000" dir="5400000" sy="-100000" algn="bl" rotWithShape="0"/>
              <a:softEdge rad="88900"/>
            </a:effectLst>
          </p:spPr>
        </p:pic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33D2A0E2-C2CF-DBA8-4B31-C7E6283D7D22}"/>
              </a:ext>
            </a:extLst>
          </p:cNvPr>
          <p:cNvSpPr txBox="1"/>
          <p:nvPr/>
        </p:nvSpPr>
        <p:spPr>
          <a:xfrm>
            <a:off x="4389120" y="2542541"/>
            <a:ext cx="4567556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Unfortunately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Your guess is incorrect.</a:t>
            </a:r>
            <a:endParaRPr lang="zh-CN" altLang="en-US" sz="28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BF02A7-F342-DE50-B26B-470E4D84CEEF}"/>
              </a:ext>
            </a:extLst>
          </p:cNvPr>
          <p:cNvSpPr txBox="1"/>
          <p:nvPr/>
        </p:nvSpPr>
        <p:spPr>
          <a:xfrm>
            <a:off x="4389120" y="4014501"/>
            <a:ext cx="4663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You have </a:t>
            </a:r>
            <a:r>
              <a:rPr lang="en-US" altLang="zh-CN" sz="2800" b="1" u="sng" dirty="0">
                <a:solidFill>
                  <a:schemeClr val="bg1"/>
                </a:solidFill>
                <a:sym typeface="+mn-ea"/>
              </a:rPr>
              <a:t>       </a:t>
            </a:r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 coins. </a:t>
            </a:r>
            <a:endParaRPr lang="zh-CN" altLang="en-US" sz="2800" b="1" dirty="0">
              <a:solidFill>
                <a:schemeClr val="bg1"/>
              </a:solidFill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1917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F30864F-8651-4EB1-BFE3-39255EF0A258}"/>
              </a:ext>
            </a:extLst>
          </p:cNvPr>
          <p:cNvGrpSpPr/>
          <p:nvPr/>
        </p:nvGrpSpPr>
        <p:grpSpPr>
          <a:xfrm>
            <a:off x="0" y="254636"/>
            <a:ext cx="12192000" cy="5307329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141470" y="2045336"/>
              <a:ext cx="5046917" cy="1318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  <a:sym typeface="+mn-ea"/>
                </a:rPr>
                <a:t>You didn't open the door...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  <a:sym typeface="+mn-ea"/>
                </a:rPr>
                <a:t>Please make a choice next time.</a:t>
              </a:r>
              <a:endParaRPr lang="en-US" altLang="zh-CN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6F3099D8-10DB-A064-6885-AFB70BCEF411}"/>
              </a:ext>
            </a:extLst>
          </p:cNvPr>
          <p:cNvSpPr txBox="1"/>
          <p:nvPr/>
        </p:nvSpPr>
        <p:spPr>
          <a:xfrm>
            <a:off x="4389120" y="4014501"/>
            <a:ext cx="4663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You have </a:t>
            </a:r>
            <a:r>
              <a:rPr lang="en-US" altLang="zh-CN" sz="2800" b="1" u="sng" dirty="0">
                <a:solidFill>
                  <a:schemeClr val="bg1"/>
                </a:solidFill>
                <a:sym typeface="+mn-ea"/>
              </a:rPr>
              <a:t>       </a:t>
            </a:r>
            <a:r>
              <a:rPr lang="en-US" altLang="zh-CN" sz="2800" b="1" dirty="0">
                <a:solidFill>
                  <a:schemeClr val="bg1"/>
                </a:solidFill>
                <a:sym typeface="+mn-ea"/>
              </a:rPr>
              <a:t> coins. </a:t>
            </a:r>
            <a:endParaRPr lang="zh-CN" altLang="en-US" sz="2800" b="1" dirty="0">
              <a:solidFill>
                <a:schemeClr val="bg1"/>
              </a:solidFill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688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0813" y="2262089"/>
            <a:ext cx="8370377" cy="184883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请继续积极配合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注意，保持头部不要动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3654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6172" y="1981202"/>
            <a:ext cx="10515600" cy="379843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此评估结束！感谢您的参与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请</a:t>
            </a:r>
            <a:r>
              <a: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积极配合后续评估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（请继续保持头部不动）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65701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0c17bdfb-7643-43a4-831f-ed20dfc5985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0c17bdfb-7643-43a4-831f-ed20dfc5985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0c17bdfb-7643-43a4-831f-ed20dfc5985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0c17bdfb-7643-43a4-831f-ed20dfc59854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</TotalTime>
  <Words>411</Words>
  <Application>Microsoft Office PowerPoint</Application>
  <PresentationFormat>宽屏</PresentationFormat>
  <Paragraphs>82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微软雅黑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十六</dc:creator>
  <cp:lastModifiedBy>Xiuling Tian</cp:lastModifiedBy>
  <cp:revision>32</cp:revision>
  <dcterms:created xsi:type="dcterms:W3CDTF">2023-08-09T12:44:00Z</dcterms:created>
  <dcterms:modified xsi:type="dcterms:W3CDTF">2025-06-05T15:03:02Z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2052-12.1.0.18912</vt:lpwstr>
  </property>
</Properties>
</file>