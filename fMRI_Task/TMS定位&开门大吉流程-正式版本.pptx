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2" r:id="rId3"/>
    <p:sldId id="279" r:id="rId4"/>
    <p:sldId id="307" r:id="rId5"/>
    <p:sldId id="308" r:id="rId6"/>
    <p:sldId id="309" r:id="rId7"/>
    <p:sldId id="310" r:id="rId8"/>
    <p:sldId id="311" r:id="rId9"/>
    <p:sldId id="313" r:id="rId10"/>
    <p:sldId id="314" r:id="rId11"/>
    <p:sldId id="280" r:id="rId12"/>
    <p:sldId id="256" r:id="rId13"/>
    <p:sldId id="257" r:id="rId14"/>
    <p:sldId id="259" r:id="rId15"/>
    <p:sldId id="261" r:id="rId16"/>
    <p:sldId id="273" r:id="rId17"/>
    <p:sldId id="316" r:id="rId18"/>
    <p:sldId id="315" r:id="rId19"/>
    <p:sldId id="274" r:id="rId20"/>
    <p:sldId id="266" r:id="rId21"/>
    <p:sldId id="267" r:id="rId22"/>
    <p:sldId id="275" r:id="rId23"/>
    <p:sldId id="276" r:id="rId24"/>
    <p:sldId id="277" r:id="rId25"/>
    <p:sldId id="268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33" d="100"/>
          <a:sy n="33" d="100"/>
        </p:scale>
        <p:origin x="4238" y="21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B7E4D-81BE-4662-9CE3-4B9525E446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B4665-4CD7-4E35-8F7A-7A6BAFF17A7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60791" y="807457"/>
            <a:ext cx="66704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TMS</a:t>
            </a:r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</a:t>
            </a:r>
            <a:endParaRPr lang="en-US" altLang="zh-CN" sz="7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临床脑影像扫描</a:t>
            </a:r>
            <a:endParaRPr lang="zh-CN" altLang="en-US" sz="7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46639" y="3429000"/>
            <a:ext cx="5074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</a:t>
            </a:r>
            <a:r>
              <a:rPr lang="en-US" altLang="zh-CN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  <a:endParaRPr lang="en-US" altLang="zh-CN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用时约</a:t>
            </a:r>
            <a:r>
              <a:rPr lang="en-US" altLang="zh-CN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分钟</a:t>
            </a:r>
            <a:endParaRPr lang="zh-CN" altLang="en-US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73628" y="380999"/>
            <a:ext cx="9448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以下先介绍一个需要您</a:t>
            </a:r>
            <a:endParaRPr lang="en-US" altLang="zh-CN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积极配合的评估</a:t>
            </a:r>
            <a:endParaRPr lang="en-US" altLang="zh-CN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1571" y="3937845"/>
            <a:ext cx="97129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第</a:t>
            </a:r>
            <a:r>
              <a:rPr lang="en-US" altLang="zh-CN" sz="6000" b="1" dirty="0">
                <a:solidFill>
                  <a:srgbClr val="FF0000"/>
                </a:solidFill>
              </a:rPr>
              <a:t>4</a:t>
            </a:r>
            <a:r>
              <a:rPr lang="zh-CN" altLang="en-US" sz="6000" b="1" dirty="0">
                <a:solidFill>
                  <a:schemeClr val="bg1"/>
                </a:solidFill>
              </a:rPr>
              <a:t>部分：开门大吉，</a:t>
            </a:r>
            <a:r>
              <a:rPr lang="en-US" altLang="zh-CN" sz="6000" b="1" dirty="0">
                <a:solidFill>
                  <a:schemeClr val="bg1"/>
                </a:solidFill>
              </a:rPr>
              <a:t>5</a:t>
            </a:r>
            <a:r>
              <a:rPr lang="zh-CN" altLang="en-US" sz="6000" b="1" dirty="0">
                <a:solidFill>
                  <a:schemeClr val="bg1"/>
                </a:solidFill>
              </a:rPr>
              <a:t>分钟</a:t>
            </a:r>
            <a:endParaRPr lang="en-US" altLang="zh-CN" sz="6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7160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欢迎来到</a:t>
            </a:r>
            <a:r>
              <a:rPr lang="en-US" altLang="zh-CN" b="1" dirty="0">
                <a:solidFill>
                  <a:schemeClr val="bg1"/>
                </a:solidFill>
              </a:rPr>
              <a:t>‘</a:t>
            </a:r>
            <a:r>
              <a:rPr lang="zh-CN" altLang="en-US" b="1" dirty="0">
                <a:solidFill>
                  <a:schemeClr val="bg1"/>
                </a:solidFill>
              </a:rPr>
              <a:t>开门大吉</a:t>
            </a:r>
            <a:r>
              <a:rPr lang="en-US" altLang="zh-CN" b="1" dirty="0">
                <a:solidFill>
                  <a:schemeClr val="bg1"/>
                </a:solidFill>
              </a:rPr>
              <a:t>’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开始前，会呈现一个注视点</a:t>
            </a:r>
            <a:r>
              <a:rPr lang="en-US" altLang="zh-CN" b="1" dirty="0">
                <a:solidFill>
                  <a:schemeClr val="bg1"/>
                </a:solidFill>
              </a:rPr>
              <a:t>“+”</a:t>
            </a:r>
            <a:endParaRPr lang="en-US" altLang="zh-CN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随后，两扇紧闭的大门就会出现在你眼前！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7160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这两扇门之中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会有一扇门后藏着闪闪发光、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超诱人的金币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而另一扇门后是一个</a:t>
            </a:r>
            <a:r>
              <a:rPr lang="zh-CN" altLang="en-US" b="1" dirty="0">
                <a:solidFill>
                  <a:srgbClr val="0000FF"/>
                </a:solidFill>
                <a:sym typeface="+mn-ea"/>
              </a:rPr>
              <a:t>吞噬金币的黑洞</a:t>
            </a:r>
            <a:endParaRPr lang="zh-CN" altLang="en-US" b="1" dirty="0">
              <a:solidFill>
                <a:srgbClr val="0000FF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7160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别犹豫，选择一扇门打开！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认为金币在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左侧门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后，请按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左手柄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上的任意键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认为金币在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右侧门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后，请按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右手柄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上的任意键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07160"/>
            <a:ext cx="10515600" cy="3860165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猜测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正确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，当即</a:t>
            </a:r>
            <a:r>
              <a:rPr lang="zh-CN" altLang="en-US" b="1" dirty="0">
                <a:solidFill>
                  <a:srgbClr val="FF0000"/>
                </a:solidFill>
                <a:sym typeface="+mn-ea"/>
              </a:rPr>
              <a:t>奖励</a:t>
            </a:r>
            <a:r>
              <a:rPr lang="en-US" altLang="zh-CN" b="1" dirty="0">
                <a:solidFill>
                  <a:srgbClr val="FF0000"/>
                </a:solidFill>
                <a:sym typeface="+mn-ea"/>
              </a:rPr>
              <a:t> 10 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金币</a:t>
            </a:r>
            <a:endParaRPr lang="zh-CN" altLang="en-US" b="1" dirty="0">
              <a:solidFill>
                <a:schemeClr val="bg1"/>
              </a:solidFill>
              <a:sym typeface="+mn-ea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猜测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错误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，则被</a:t>
            </a:r>
            <a:r>
              <a:rPr lang="zh-CN" altLang="en-US" b="1" dirty="0">
                <a:solidFill>
                  <a:srgbClr val="FFFF00"/>
                </a:solidFill>
                <a:sym typeface="+mn-ea"/>
              </a:rPr>
              <a:t>扣除</a:t>
            </a:r>
            <a:r>
              <a:rPr lang="en-US" altLang="zh-CN" b="1" dirty="0">
                <a:solidFill>
                  <a:srgbClr val="FFFF00"/>
                </a:solidFill>
                <a:sym typeface="+mn-ea"/>
              </a:rPr>
              <a:t> 10 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金币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您的初始金币为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100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现在，开始吧！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!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b="1" dirty="0">
                <a:solidFill>
                  <a:schemeClr val="bg1"/>
                </a:solidFill>
              </a:rPr>
              <a:t>（请按手柄任意键继续）</a:t>
            </a:r>
            <a:endParaRPr lang="zh-CN" altLang="en-US" b="1" dirty="0">
              <a:solidFill>
                <a:schemeClr val="bg1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endParaRPr lang="en-US" altLang="zh-CN" b="1" dirty="0">
              <a:solidFill>
                <a:schemeClr val="bg1"/>
              </a:solidFill>
            </a:endParaRPr>
          </a:p>
          <a:p>
            <a:pPr algn="ctr"/>
            <a:endParaRPr lang="en-US" altLang="zh-CN" b="1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944064"/>
            <a:ext cx="12192000" cy="5307330"/>
            <a:chOff x="0" y="254635"/>
            <a:chExt cx="12192000" cy="5307330"/>
          </a:xfrm>
        </p:grpSpPr>
        <p:pic>
          <p:nvPicPr>
            <p:cNvPr id="6" name="图片 5"/>
            <p:cNvPicPr/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7" name="图片 6"/>
            <p:cNvPicPr/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4064000" y="2748280"/>
              <a:ext cx="406400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</a:rPr>
                <a:t>请选择一扇门打开</a:t>
              </a:r>
              <a:endParaRPr lang="en-US" altLang="zh-CN" sz="2800" b="1">
                <a:solidFill>
                  <a:schemeClr val="bg1"/>
                </a:solidFill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  <p:sp>
        <p:nvSpPr>
          <p:cNvPr id="3" name="矩形 2"/>
          <p:cNvSpPr/>
          <p:nvPr/>
        </p:nvSpPr>
        <p:spPr>
          <a:xfrm>
            <a:off x="3624833" y="6117475"/>
            <a:ext cx="5391219" cy="465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在此处，请别犹豫，尽快（</a:t>
            </a:r>
            <a:r>
              <a:rPr lang="en-US" altLang="zh-CN" b="1" dirty="0">
                <a:solidFill>
                  <a:schemeClr val="bg1"/>
                </a:solidFill>
                <a:sym typeface="+mn-ea"/>
              </a:rPr>
              <a:t>2</a:t>
            </a:r>
            <a:r>
              <a:rPr lang="zh-CN" altLang="en-US" b="1" dirty="0">
                <a:solidFill>
                  <a:schemeClr val="bg1"/>
                </a:solidFill>
                <a:sym typeface="+mn-ea"/>
              </a:rPr>
              <a:t>秒）选择一扇门打开！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  <p:sp>
        <p:nvSpPr>
          <p:cNvPr id="3" name="矩形 2"/>
          <p:cNvSpPr/>
          <p:nvPr/>
        </p:nvSpPr>
        <p:spPr>
          <a:xfrm>
            <a:off x="4266034" y="6117475"/>
            <a:ext cx="4108818" cy="465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在此处，显示为您开门后获得一个金币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0" y="254635"/>
            <a:ext cx="12192000" cy="5307330"/>
            <a:chOff x="0" y="254635"/>
            <a:chExt cx="12192000" cy="5307330"/>
          </a:xfrm>
        </p:grpSpPr>
        <p:pic>
          <p:nvPicPr>
            <p:cNvPr id="11" name="图片 10"/>
            <p:cNvPicPr/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12" name="图片 11"/>
            <p:cNvPicPr/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13" name="图片 12" descr="千库网_金色货币金币财富商务贸易背景图21_背景编号6609747"/>
            <p:cNvPicPr>
              <a:picLocks noChangeAspect="1"/>
            </p:cNvPicPr>
            <p:nvPr/>
          </p:nvPicPr>
          <p:blipFill>
            <a:blip r:embed="rId2"/>
            <a:srcRect l="32837" r="39603" b="863"/>
            <a:stretch>
              <a:fillRect/>
            </a:stretch>
          </p:blipFill>
          <p:spPr>
            <a:xfrm>
              <a:off x="8954629" y="1209675"/>
              <a:ext cx="1811398" cy="3722370"/>
            </a:xfrm>
            <a:prstGeom prst="rect">
              <a:avLst/>
            </a:prstGeom>
            <a:effectLst>
              <a:softEdge rad="88900"/>
            </a:effectLst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7359650" y="935355"/>
              <a:ext cx="1748790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15" name="文本框 14"/>
            <p:cNvSpPr txBox="1"/>
            <p:nvPr/>
          </p:nvSpPr>
          <p:spPr>
            <a:xfrm>
              <a:off x="4636769" y="2542540"/>
              <a:ext cx="3128373" cy="669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sz="2800" b="1" dirty="0">
                  <a:solidFill>
                    <a:schemeClr val="bg1"/>
                  </a:solidFill>
                </a:rPr>
                <a:t>恭喜您</a:t>
              </a:r>
              <a:r>
                <a:rPr lang="zh-CN" altLang="en-US" sz="2800" b="1" dirty="0">
                  <a:solidFill>
                    <a:schemeClr val="bg1"/>
                  </a:solidFill>
                </a:rPr>
                <a:t>，</a:t>
              </a:r>
              <a:r>
                <a:rPr lang="zh-CN" sz="2800" b="1" dirty="0">
                  <a:solidFill>
                    <a:schemeClr val="bg1"/>
                  </a:solidFill>
                </a:rPr>
                <a:t>猜测正确</a:t>
              </a:r>
              <a:endParaRPr lang="zh-CN" sz="2800" b="1" dirty="0">
                <a:solidFill>
                  <a:schemeClr val="bg1"/>
                </a:solidFill>
              </a:endParaRPr>
            </a:p>
          </p:txBody>
        </p:sp>
        <p:grpSp>
          <p:nvGrpSpPr>
            <p:cNvPr id="16" name="组合 15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18" name="图片 17" descr="gold coin vector material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19" name="文本框 18"/>
              <p:cNvSpPr txBox="1"/>
              <p:nvPr/>
            </p:nvSpPr>
            <p:spPr>
              <a:xfrm>
                <a:off x="8726" y="4344"/>
                <a:ext cx="2700" cy="11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+10</a:t>
                </a:r>
                <a:endParaRPr lang="en-US" altLang="zh-CN" sz="3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sp>
          <p:nvSpPr>
            <p:cNvPr id="17" name="文本框 16"/>
            <p:cNvSpPr txBox="1"/>
            <p:nvPr/>
          </p:nvSpPr>
          <p:spPr>
            <a:xfrm>
              <a:off x="4731385" y="3404235"/>
              <a:ext cx="219075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800" b="1" dirty="0">
                  <a:solidFill>
                    <a:schemeClr val="bg1"/>
                  </a:solidFill>
                  <a:sym typeface="+mn-ea"/>
                </a:rPr>
                <a:t>您的金币为：</a:t>
              </a:r>
              <a:endParaRPr lang="zh-CN" altLang="en-US" sz="2800" b="1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3926175" y="123763"/>
            <a:ext cx="433965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5400" b="1" dirty="0">
                <a:solidFill>
                  <a:schemeClr val="bg1"/>
                </a:solidFill>
              </a:rPr>
              <a:t>开门大吉介绍</a:t>
            </a:r>
            <a:endParaRPr lang="zh-CN" altLang="en-US" sz="5400" dirty="0"/>
          </a:p>
        </p:txBody>
      </p:sp>
      <p:sp>
        <p:nvSpPr>
          <p:cNvPr id="3" name="矩形 2"/>
          <p:cNvSpPr/>
          <p:nvPr/>
        </p:nvSpPr>
        <p:spPr>
          <a:xfrm>
            <a:off x="4266034" y="6117475"/>
            <a:ext cx="4108818" cy="4656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sym typeface="+mn-ea"/>
              </a:rPr>
              <a:t>在此处，显示为您开门后获得一个金币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0" y="515892"/>
            <a:ext cx="12192000" cy="5307330"/>
            <a:chOff x="0" y="254635"/>
            <a:chExt cx="12192000" cy="5307330"/>
          </a:xfrm>
        </p:grpSpPr>
        <p:pic>
          <p:nvPicPr>
            <p:cNvPr id="21" name="图片 20"/>
            <p:cNvPicPr/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6922770" y="254635"/>
              <a:ext cx="5269230" cy="5307330"/>
            </a:xfrm>
            <a:prstGeom prst="rect">
              <a:avLst/>
            </a:prstGeom>
          </p:spPr>
        </p:pic>
        <p:pic>
          <p:nvPicPr>
            <p:cNvPr id="22" name="图片 21"/>
            <p:cNvPicPr/>
            <p:nvPr/>
          </p:nvPicPr>
          <p:blipFill>
            <a:blip r:embed="rId1">
              <a:clrChange>
                <a:clrFrom>
                  <a:srgbClr val="FFFFFF">
                    <a:alpha val="100000"/>
                  </a:srgbClr>
                </a:clrFrom>
                <a:clrTo>
                  <a:srgbClr val="FFFFFF">
                    <a:alpha val="100000"/>
                    <a:alpha val="0"/>
                  </a:srgbClr>
                </a:clrTo>
              </a:clrChange>
            </a:blip>
            <a:srcRect t="-338" r="11424"/>
            <a:stretch>
              <a:fillRect/>
            </a:stretch>
          </p:blipFill>
          <p:spPr>
            <a:xfrm>
              <a:off x="0" y="254635"/>
              <a:ext cx="5335270" cy="5307330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7358743" y="935355"/>
              <a:ext cx="1749697" cy="4626610"/>
            </a:xfrm>
            <a:prstGeom prst="rect">
              <a:avLst/>
            </a:prstGeom>
            <a:scene3d>
              <a:camera prst="isometricRightUp">
                <a:rot lat="2100000" lon="19800000" rev="0"/>
              </a:camera>
              <a:lightRig rig="threePt" dir="t"/>
            </a:scene3d>
          </p:spPr>
        </p:pic>
        <p:sp>
          <p:nvSpPr>
            <p:cNvPr id="24" name="文本框 23"/>
            <p:cNvSpPr txBox="1"/>
            <p:nvPr/>
          </p:nvSpPr>
          <p:spPr>
            <a:xfrm>
              <a:off x="4389120" y="2542540"/>
              <a:ext cx="3413760" cy="6698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sz="2800" b="1" dirty="0">
                  <a:solidFill>
                    <a:schemeClr val="bg1"/>
                  </a:solidFill>
                  <a:sym typeface="+mn-ea"/>
                </a:rPr>
                <a:t>很遗憾</a:t>
              </a:r>
              <a:r>
                <a:rPr lang="zh-CN" altLang="en-US" sz="2800" b="1" dirty="0">
                  <a:solidFill>
                    <a:schemeClr val="bg1"/>
                  </a:solidFill>
                  <a:sym typeface="+mn-ea"/>
                </a:rPr>
                <a:t>，</a:t>
              </a:r>
              <a:r>
                <a:rPr lang="zh-CN" sz="2800" b="1" dirty="0">
                  <a:solidFill>
                    <a:schemeClr val="bg1"/>
                  </a:solidFill>
                  <a:sym typeface="+mn-ea"/>
                </a:rPr>
                <a:t>没有猜对</a:t>
              </a:r>
              <a:endParaRPr lang="zh-CN" sz="2800" b="1" dirty="0">
                <a:solidFill>
                  <a:schemeClr val="bg1"/>
                </a:solidFill>
              </a:endParaRPr>
            </a:p>
          </p:txBody>
        </p:sp>
        <p:grpSp>
          <p:nvGrpSpPr>
            <p:cNvPr id="25" name="组合 24"/>
            <p:cNvGrpSpPr>
              <a:grpSpLocks noChangeAspect="1"/>
            </p:cNvGrpSpPr>
            <p:nvPr/>
          </p:nvGrpSpPr>
          <p:grpSpPr>
            <a:xfrm>
              <a:off x="5087065" y="1856135"/>
              <a:ext cx="2017843" cy="789940"/>
              <a:chOff x="7399" y="4139"/>
              <a:chExt cx="4027" cy="1577"/>
            </a:xfrm>
            <a:noFill/>
          </p:grpSpPr>
          <p:pic>
            <p:nvPicPr>
              <p:cNvPr id="28" name="图片 27" descr="gold coin vector material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99" y="4139"/>
                <a:ext cx="1577" cy="1577"/>
              </a:xfrm>
              <a:prstGeom prst="rect">
                <a:avLst/>
              </a:prstGeom>
              <a:grpFill/>
            </p:spPr>
          </p:pic>
          <p:sp>
            <p:nvSpPr>
              <p:cNvPr id="29" name="文本框 28"/>
              <p:cNvSpPr txBox="1"/>
              <p:nvPr/>
            </p:nvSpPr>
            <p:spPr>
              <a:xfrm>
                <a:off x="8726" y="4344"/>
                <a:ext cx="2700" cy="1165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rgbClr val="FFFF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-10</a:t>
                </a:r>
                <a:endParaRPr lang="en-US" altLang="zh-CN" sz="3200" b="1" dirty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pic>
          <p:nvPicPr>
            <p:cNvPr id="26" name="图片 25" descr="7b0a202020202266696c746572223a202238220a7d0a"/>
            <p:cNvPicPr/>
            <p:nvPr>
              <p:custDataLst>
                <p:tags r:id="rId4"/>
              </p:custDataLst>
            </p:nvPr>
          </p:nvPicPr>
          <p:blipFill>
            <a:blip r:embed="rId5"/>
            <a:srcRect l="31802" t="-8" r="39631" b="3261"/>
            <a:stretch>
              <a:fillRect/>
            </a:stretch>
          </p:blipFill>
          <p:spPr>
            <a:xfrm>
              <a:off x="8956675" y="1174115"/>
              <a:ext cx="1898650" cy="3750310"/>
            </a:xfrm>
            <a:prstGeom prst="rect">
              <a:avLst/>
            </a:prstGeom>
            <a:effectLst>
              <a:outerShdw blurRad="241300" dir="10200000" sx="101000" sy="101000" rotWithShape="0">
                <a:prstClr val="black">
                  <a:alpha val="100000"/>
                </a:prstClr>
              </a:outerShdw>
              <a:reflection endA="300" endPos="1000" dir="5400000" sy="-100000" algn="bl" rotWithShape="0"/>
              <a:softEdge rad="88900"/>
            </a:effectLst>
          </p:spPr>
        </p:pic>
        <p:sp>
          <p:nvSpPr>
            <p:cNvPr id="27" name="文本框 26"/>
            <p:cNvSpPr txBox="1"/>
            <p:nvPr/>
          </p:nvSpPr>
          <p:spPr>
            <a:xfrm>
              <a:off x="4731385" y="3404235"/>
              <a:ext cx="219075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sz="2800" b="1">
                  <a:solidFill>
                    <a:schemeClr val="bg1"/>
                  </a:solidFill>
                  <a:sym typeface="+mn-ea"/>
                </a:rPr>
                <a:t>您的金币为：</a:t>
              </a:r>
              <a:endParaRPr lang="zh-CN" altLang="en-US" sz="2800" b="1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760791" y="807457"/>
            <a:ext cx="66704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TMS</a:t>
            </a:r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</a:t>
            </a:r>
            <a:endParaRPr lang="en-US" altLang="zh-CN" sz="7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7200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临床脑影像扫描</a:t>
            </a:r>
            <a:endParaRPr lang="zh-CN" altLang="en-US" sz="7200" b="1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746639" y="3429000"/>
            <a:ext cx="50748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共</a:t>
            </a:r>
            <a:r>
              <a:rPr lang="en-US" altLang="zh-CN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  <a:endParaRPr lang="en-US" altLang="zh-CN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用时约</a:t>
            </a:r>
            <a:r>
              <a:rPr lang="en-US" altLang="zh-CN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分钟</a:t>
            </a:r>
            <a:endParaRPr lang="zh-CN" altLang="en-US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57007" y="1159933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熟悉按键</a:t>
            </a:r>
            <a:endParaRPr lang="zh-CN" altLang="en-US" sz="72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71741" y="4212158"/>
            <a:ext cx="864852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请按</a:t>
            </a:r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左手</a:t>
            </a:r>
            <a:r>
              <a:rPr lang="en-US" altLang="zh-CN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1,2</a:t>
            </a:r>
            <a:endParaRPr lang="en-US" altLang="zh-CN" sz="60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右手</a:t>
            </a:r>
            <a:r>
              <a:rPr lang="en-US" altLang="zh-CN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3,4</a:t>
            </a:r>
            <a:r>
              <a:rPr lang="zh-CN" altLang="en-US" sz="60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手柄</a:t>
            </a:r>
            <a:r>
              <a:rPr lang="zh-CN" altLang="en-US" sz="6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键</a:t>
            </a:r>
            <a:endParaRPr lang="zh-CN" altLang="en-US" sz="60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1823" y="980611"/>
            <a:ext cx="44935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1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扫描即将开始</a:t>
            </a:r>
            <a:endParaRPr lang="en-US" altLang="zh-CN" sz="48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请保持头部不动</a:t>
            </a:r>
            <a:endParaRPr lang="en-US" altLang="zh-CN" sz="48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5</a:t>
            </a:r>
            <a:r>
              <a:rPr lang="zh-CN" altLang="en-US" sz="4800" b="1" dirty="0">
                <a:solidFill>
                  <a:schemeClr val="bg1"/>
                </a:solidFill>
              </a:rPr>
              <a:t>分钟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91508" y="2828835"/>
            <a:ext cx="120898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</a:rPr>
              <a:t>+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48801" y="5686782"/>
            <a:ext cx="40943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平扫</a:t>
            </a:r>
            <a:r>
              <a:rPr lang="en-US" altLang="zh-CN" sz="32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+3DT1</a:t>
            </a:r>
            <a:endParaRPr lang="en-US" altLang="zh-CN" sz="3200" b="1" u="sng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结束后按空格键继续</a:t>
            </a:r>
            <a:endParaRPr lang="en-US" altLang="zh-CN" sz="32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80891" y="663218"/>
            <a:ext cx="66302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请保持头部不动，</a:t>
            </a:r>
            <a:endParaRPr lang="en-US" altLang="zh-CN" sz="4000" dirty="0">
              <a:solidFill>
                <a:schemeClr val="bg1"/>
              </a:solidFill>
            </a:endParaRPr>
          </a:p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多看下面的符号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362191" y="839097"/>
            <a:ext cx="3467616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2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观看电影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609352" y="3429000"/>
            <a:ext cx="92127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扫描医师：切换到</a:t>
            </a:r>
            <a:r>
              <a:rPr lang="zh-CN" altLang="en-US" sz="4400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静息视频播放</a:t>
            </a:r>
            <a:r>
              <a:rPr lang="zh-CN" altLang="en-US" sz="4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界面</a:t>
            </a:r>
            <a:endParaRPr lang="en-US" altLang="zh-CN" sz="44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0813" r="226" b="11596"/>
          <a:stretch>
            <a:fillRect/>
          </a:stretch>
        </p:blipFill>
        <p:spPr>
          <a:xfrm>
            <a:off x="4241165" y="4455795"/>
            <a:ext cx="3709035" cy="5200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849230" y="839097"/>
            <a:ext cx="449353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3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扫描即将开始</a:t>
            </a:r>
            <a:endParaRPr lang="en-US" altLang="zh-CN" sz="48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</a:rPr>
              <a:t>请保持头部不动</a:t>
            </a:r>
            <a:endParaRPr lang="en-US" altLang="zh-CN" sz="48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4800" b="1" dirty="0">
                <a:solidFill>
                  <a:schemeClr val="bg1"/>
                </a:solidFill>
              </a:rPr>
              <a:t>6</a:t>
            </a:r>
            <a:r>
              <a:rPr lang="zh-CN" altLang="en-US" sz="4800" b="1" dirty="0">
                <a:solidFill>
                  <a:schemeClr val="bg1"/>
                </a:solidFill>
              </a:rPr>
              <a:t>分钟</a:t>
            </a:r>
            <a:endParaRPr lang="zh-CN" altLang="en-US" sz="48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91508" y="2828835"/>
            <a:ext cx="120898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</a:rPr>
              <a:t>+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57003" y="5686782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</a:t>
            </a:r>
            <a:r>
              <a:rPr lang="en-US" altLang="zh-CN" sz="32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rest</a:t>
            </a:r>
            <a:endParaRPr lang="en-US" altLang="zh-CN" sz="3200" b="1" u="sng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结束后按空格键继续</a:t>
            </a:r>
            <a:endParaRPr lang="en-US" altLang="zh-CN" sz="32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955064" y="391894"/>
            <a:ext cx="66302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请保持头部不动</a:t>
            </a:r>
            <a:endParaRPr lang="en-US" altLang="zh-CN" sz="4000" dirty="0">
              <a:solidFill>
                <a:schemeClr val="bg1"/>
              </a:solidFill>
            </a:endParaRPr>
          </a:p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不要睡着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473465" y="860868"/>
            <a:ext cx="3467616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4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6000" b="1" dirty="0">
                <a:solidFill>
                  <a:schemeClr val="bg1"/>
                </a:solidFill>
              </a:rPr>
              <a:t>开门大吉</a:t>
            </a:r>
            <a:endParaRPr lang="en-US" altLang="zh-CN" sz="60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6000" b="1" dirty="0">
                <a:solidFill>
                  <a:schemeClr val="bg1"/>
                </a:solidFill>
              </a:rPr>
              <a:t>4</a:t>
            </a:r>
            <a:r>
              <a:rPr lang="zh-CN" altLang="en-US" sz="6000" b="1" dirty="0">
                <a:solidFill>
                  <a:schemeClr val="bg1"/>
                </a:solidFill>
              </a:rPr>
              <a:t>分钟</a:t>
            </a:r>
            <a:endParaRPr lang="en-US" altLang="zh-CN" sz="6000" b="1" dirty="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2173609" y="3429000"/>
            <a:ext cx="80842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扫描医师：切换到</a:t>
            </a:r>
            <a:r>
              <a:rPr lang="zh-CN" altLang="en-US" sz="4400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开门大吉</a:t>
            </a:r>
            <a:r>
              <a:rPr lang="zh-CN" altLang="en-US" sz="4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界面</a:t>
            </a:r>
            <a:endParaRPr lang="en-US" altLang="zh-CN" sz="44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/>
          <a:srcRect b="17536"/>
          <a:stretch>
            <a:fillRect/>
          </a:stretch>
        </p:blipFill>
        <p:spPr>
          <a:xfrm>
            <a:off x="4225432" y="4480846"/>
            <a:ext cx="4036999" cy="5317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14280" y="991498"/>
            <a:ext cx="4673074" cy="461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7200" b="1" dirty="0">
                <a:solidFill>
                  <a:schemeClr val="bg1"/>
                </a:solidFill>
              </a:rPr>
              <a:t>第</a:t>
            </a:r>
            <a:r>
              <a:rPr lang="en-US" altLang="zh-CN" sz="7200" b="1" dirty="0">
                <a:solidFill>
                  <a:srgbClr val="FF0000"/>
                </a:solidFill>
              </a:rPr>
              <a:t>5</a:t>
            </a:r>
            <a:r>
              <a:rPr lang="zh-CN" altLang="en-US" sz="7200" b="1" dirty="0">
                <a:solidFill>
                  <a:schemeClr val="bg1"/>
                </a:solidFill>
              </a:rPr>
              <a:t>部分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endParaRPr lang="en-US" altLang="zh-CN" sz="72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5000" b="1" dirty="0">
                <a:solidFill>
                  <a:schemeClr val="bg1"/>
                </a:solidFill>
              </a:rPr>
              <a:t>扫描即将开始</a:t>
            </a:r>
            <a:endParaRPr lang="en-US" altLang="zh-CN" sz="50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5000" b="1" dirty="0">
                <a:solidFill>
                  <a:schemeClr val="bg1"/>
                </a:solidFill>
              </a:rPr>
              <a:t>请保持头部不动</a:t>
            </a:r>
            <a:endParaRPr lang="en-US" altLang="zh-CN" sz="5000" b="1" dirty="0">
              <a:solidFill>
                <a:schemeClr val="bg1"/>
              </a:solidFill>
            </a:endParaRPr>
          </a:p>
          <a:p>
            <a:pPr algn="ctr"/>
            <a:r>
              <a:rPr lang="en-US" altLang="zh-CN" sz="5000" b="1" dirty="0">
                <a:solidFill>
                  <a:schemeClr val="bg1"/>
                </a:solidFill>
              </a:rPr>
              <a:t>6</a:t>
            </a:r>
            <a:r>
              <a:rPr lang="zh-CN" altLang="en-US" sz="5000" b="1" dirty="0">
                <a:solidFill>
                  <a:schemeClr val="bg1"/>
                </a:solidFill>
              </a:rPr>
              <a:t>分钟</a:t>
            </a:r>
            <a:endParaRPr lang="zh-CN" altLang="en-US" sz="5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46639" y="5723086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</a:rPr>
              <a:t>扫描医师：</a:t>
            </a:r>
            <a:r>
              <a:rPr lang="zh-CN" altLang="en-US" sz="3200" b="1" u="sng" dirty="0">
                <a:solidFill>
                  <a:srgbClr val="FFFF00"/>
                </a:solidFill>
              </a:rPr>
              <a:t>按空格键</a:t>
            </a:r>
            <a:r>
              <a:rPr lang="zh-CN" altLang="en-US" sz="3200" dirty="0">
                <a:solidFill>
                  <a:srgbClr val="FFFF00"/>
                </a:solidFill>
              </a:rPr>
              <a:t>继续</a:t>
            </a:r>
            <a:endParaRPr lang="en-US" altLang="zh-CN" sz="32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91508" y="2828835"/>
            <a:ext cx="120898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1500" b="1" dirty="0">
                <a:solidFill>
                  <a:schemeClr val="bg1"/>
                </a:solidFill>
              </a:rPr>
              <a:t>+</a:t>
            </a:r>
            <a:endParaRPr lang="zh-CN" altLang="en-US" sz="11500" b="1" dirty="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57003" y="5686782"/>
            <a:ext cx="3877985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扫描医师：</a:t>
            </a:r>
            <a:r>
              <a:rPr lang="en-US" altLang="zh-CN" sz="3200" b="1" u="sng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ASL</a:t>
            </a:r>
            <a:endParaRPr lang="en-US" altLang="zh-CN" sz="3200" b="1" u="sng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结束后按空格键继续</a:t>
            </a:r>
            <a:endParaRPr lang="en-US" altLang="zh-CN" sz="32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780890" y="589327"/>
            <a:ext cx="663020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仍在评估，</a:t>
            </a:r>
            <a:endParaRPr lang="en-US" altLang="zh-CN" sz="4000" dirty="0">
              <a:solidFill>
                <a:schemeClr val="bg1"/>
              </a:solidFill>
            </a:endParaRPr>
          </a:p>
          <a:p>
            <a:pPr algn="ctr"/>
            <a:r>
              <a:rPr lang="zh-CN" altLang="en-US" sz="4000" dirty="0">
                <a:solidFill>
                  <a:schemeClr val="bg1"/>
                </a:solidFill>
              </a:rPr>
              <a:t>请保持头部不动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33678" y="1621695"/>
            <a:ext cx="5724644" cy="32474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7200" b="1" dirty="0">
                <a:solidFill>
                  <a:schemeClr val="bg1"/>
                </a:solidFill>
              </a:rPr>
              <a:t>所有扫描结束</a:t>
            </a:r>
            <a:endParaRPr lang="en-US" altLang="zh-CN" sz="72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 sz="7200" b="1" dirty="0">
                <a:solidFill>
                  <a:schemeClr val="bg1"/>
                </a:solidFill>
              </a:rPr>
              <a:t>请静等医师</a:t>
            </a:r>
            <a:endParaRPr lang="en-US" altLang="zh-CN" sz="72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ICID" val="{0c17bdfb-7643-43a4-831f-ed20dfc59854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WPS 演示</Application>
  <PresentationFormat>宽屏</PresentationFormat>
  <Paragraphs>160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黑体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Changlin Bai</dc:creator>
  <cp:lastModifiedBy>助教7</cp:lastModifiedBy>
  <cp:revision>22</cp:revision>
  <dcterms:created xsi:type="dcterms:W3CDTF">2024-08-04T13:34:00Z</dcterms:created>
  <dcterms:modified xsi:type="dcterms:W3CDTF">2024-12-16T10:04:30Z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6247B3A3FBB44C35A32E559ECEB39FB9_12</vt:lpwstr>
  </property>
  <property fmtid="{D5CDD505-2E9C-101B-9397-08002B2CF9AE}" pid="3" name="KSOProductBuildVer">
    <vt:lpwstr>2052-12.1.0.19302</vt:lpwstr>
  </property>
</Properties>
</file>